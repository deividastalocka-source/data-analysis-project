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6" r:id="rId5"/>
    <p:sldId id="268" r:id="rId6"/>
    <p:sldId id="258" r:id="rId7"/>
    <p:sldId id="259" r:id="rId8"/>
    <p:sldId id="260" r:id="rId9"/>
    <p:sldId id="261" r:id="rId10"/>
    <p:sldId id="262" r:id="rId11"/>
    <p:sldId id="265" r:id="rId12"/>
    <p:sldId id="266" r:id="rId13"/>
    <p:sldId id="267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B28C"/>
    <a:srgbClr val="8FB2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9C2E4-627D-D0EA-DC62-C3F7D21AFDE3}" v="2" dt="2024-12-20T08:45:09.807"/>
    <p1510:client id="{8C19909C-CC74-554F-8D22-FBBDD390FA68}" v="363" dt="2024-12-20T08:48:42.474"/>
    <p1510:client id="{CCA464E2-897D-A161-1467-3A49B11A89B9}" v="9" dt="2024-12-20T08:23:40.501"/>
    <p1510:client id="{D12948AD-302C-4CF1-6C94-6704B11485FF}" v="21" dt="2024-12-19T20:54:26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cityuni-my.sharepoint.com/personal/deividas_talocka_city_ac_uk/Documents/Project%206%20TV%20marketing%20regress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cityuni-my.sharepoint.com/personal/deividas_talocka_city_ac_uk/Documents/Project%206%20TV%20marketing%20regress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'[Project 6 TV marketing regression.xlsx]Data'!$B$1</c:f>
              <c:strCache>
                <c:ptCount val="1"/>
                <c:pt idx="0">
                  <c:v>Sales (thousands), Y</c:v>
                </c:pt>
              </c:strCache>
            </c:strRef>
          </c:tx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trendline>
            <c:spPr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2030060788798386"/>
                  <c:y val="-0.14959934886188006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lt1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'[Project 6 TV marketing regression.xlsx]Data'!$A$2:$A$201</c:f>
              <c:numCache>
                <c:formatCode>General</c:formatCode>
                <c:ptCount val="200"/>
                <c:pt idx="0">
                  <c:v>230.1</c:v>
                </c:pt>
                <c:pt idx="1">
                  <c:v>44.5</c:v>
                </c:pt>
                <c:pt idx="2">
                  <c:v>17.2</c:v>
                </c:pt>
                <c:pt idx="3">
                  <c:v>151.5</c:v>
                </c:pt>
                <c:pt idx="4">
                  <c:v>180.8</c:v>
                </c:pt>
                <c:pt idx="5">
                  <c:v>8.6999999999999993</c:v>
                </c:pt>
                <c:pt idx="6">
                  <c:v>57.5</c:v>
                </c:pt>
                <c:pt idx="7">
                  <c:v>120.2</c:v>
                </c:pt>
                <c:pt idx="8">
                  <c:v>8.6</c:v>
                </c:pt>
                <c:pt idx="9">
                  <c:v>199.8</c:v>
                </c:pt>
                <c:pt idx="10">
                  <c:v>66.099999999999994</c:v>
                </c:pt>
                <c:pt idx="11">
                  <c:v>214.7</c:v>
                </c:pt>
                <c:pt idx="12">
                  <c:v>23.8</c:v>
                </c:pt>
                <c:pt idx="13">
                  <c:v>97.5</c:v>
                </c:pt>
                <c:pt idx="14">
                  <c:v>204.1</c:v>
                </c:pt>
                <c:pt idx="15">
                  <c:v>195.4</c:v>
                </c:pt>
                <c:pt idx="16">
                  <c:v>67.8</c:v>
                </c:pt>
                <c:pt idx="17">
                  <c:v>281.39999999999998</c:v>
                </c:pt>
                <c:pt idx="18">
                  <c:v>69.2</c:v>
                </c:pt>
                <c:pt idx="19">
                  <c:v>147.30000000000001</c:v>
                </c:pt>
                <c:pt idx="20">
                  <c:v>218.4</c:v>
                </c:pt>
                <c:pt idx="21">
                  <c:v>237.4</c:v>
                </c:pt>
                <c:pt idx="22">
                  <c:v>13.2</c:v>
                </c:pt>
                <c:pt idx="23">
                  <c:v>228.3</c:v>
                </c:pt>
                <c:pt idx="24">
                  <c:v>62.3</c:v>
                </c:pt>
                <c:pt idx="25">
                  <c:v>262.89999999999998</c:v>
                </c:pt>
                <c:pt idx="26">
                  <c:v>142.9</c:v>
                </c:pt>
                <c:pt idx="27">
                  <c:v>240.1</c:v>
                </c:pt>
                <c:pt idx="28">
                  <c:v>248.8</c:v>
                </c:pt>
                <c:pt idx="29">
                  <c:v>70.599999999999994</c:v>
                </c:pt>
                <c:pt idx="30">
                  <c:v>292.89999999999998</c:v>
                </c:pt>
                <c:pt idx="31">
                  <c:v>112.9</c:v>
                </c:pt>
                <c:pt idx="32">
                  <c:v>97.2</c:v>
                </c:pt>
                <c:pt idx="33">
                  <c:v>265.60000000000002</c:v>
                </c:pt>
                <c:pt idx="34">
                  <c:v>95.7</c:v>
                </c:pt>
                <c:pt idx="35">
                  <c:v>290.7</c:v>
                </c:pt>
                <c:pt idx="36">
                  <c:v>266.89999999999998</c:v>
                </c:pt>
                <c:pt idx="37">
                  <c:v>74.7</c:v>
                </c:pt>
                <c:pt idx="38">
                  <c:v>43.1</c:v>
                </c:pt>
                <c:pt idx="39">
                  <c:v>228</c:v>
                </c:pt>
                <c:pt idx="40">
                  <c:v>202.5</c:v>
                </c:pt>
                <c:pt idx="41">
                  <c:v>177</c:v>
                </c:pt>
                <c:pt idx="42">
                  <c:v>293.60000000000002</c:v>
                </c:pt>
                <c:pt idx="43">
                  <c:v>206.9</c:v>
                </c:pt>
                <c:pt idx="44">
                  <c:v>25.1</c:v>
                </c:pt>
                <c:pt idx="45">
                  <c:v>175.1</c:v>
                </c:pt>
                <c:pt idx="46">
                  <c:v>89.7</c:v>
                </c:pt>
                <c:pt idx="47">
                  <c:v>239.9</c:v>
                </c:pt>
                <c:pt idx="48">
                  <c:v>227.2</c:v>
                </c:pt>
                <c:pt idx="49">
                  <c:v>66.900000000000006</c:v>
                </c:pt>
                <c:pt idx="50">
                  <c:v>199.8</c:v>
                </c:pt>
                <c:pt idx="51">
                  <c:v>100.4</c:v>
                </c:pt>
                <c:pt idx="52">
                  <c:v>216.4</c:v>
                </c:pt>
                <c:pt idx="53">
                  <c:v>182.6</c:v>
                </c:pt>
                <c:pt idx="54">
                  <c:v>262.7</c:v>
                </c:pt>
                <c:pt idx="55">
                  <c:v>198.9</c:v>
                </c:pt>
                <c:pt idx="56">
                  <c:v>7.3</c:v>
                </c:pt>
                <c:pt idx="57">
                  <c:v>136.19999999999999</c:v>
                </c:pt>
                <c:pt idx="58">
                  <c:v>210.8</c:v>
                </c:pt>
                <c:pt idx="59">
                  <c:v>210.7</c:v>
                </c:pt>
                <c:pt idx="60">
                  <c:v>53.5</c:v>
                </c:pt>
                <c:pt idx="61">
                  <c:v>261.3</c:v>
                </c:pt>
                <c:pt idx="62">
                  <c:v>239.3</c:v>
                </c:pt>
                <c:pt idx="63">
                  <c:v>102.7</c:v>
                </c:pt>
                <c:pt idx="64">
                  <c:v>131.1</c:v>
                </c:pt>
                <c:pt idx="65">
                  <c:v>69</c:v>
                </c:pt>
                <c:pt idx="66">
                  <c:v>31.5</c:v>
                </c:pt>
                <c:pt idx="67">
                  <c:v>139.30000000000001</c:v>
                </c:pt>
                <c:pt idx="68">
                  <c:v>237.4</c:v>
                </c:pt>
                <c:pt idx="69">
                  <c:v>216.8</c:v>
                </c:pt>
                <c:pt idx="70">
                  <c:v>199.1</c:v>
                </c:pt>
                <c:pt idx="71">
                  <c:v>109.8</c:v>
                </c:pt>
                <c:pt idx="72">
                  <c:v>26.8</c:v>
                </c:pt>
                <c:pt idx="73">
                  <c:v>129.4</c:v>
                </c:pt>
                <c:pt idx="74">
                  <c:v>213.4</c:v>
                </c:pt>
                <c:pt idx="75">
                  <c:v>16.899999999999999</c:v>
                </c:pt>
                <c:pt idx="76">
                  <c:v>27.5</c:v>
                </c:pt>
                <c:pt idx="77">
                  <c:v>120.5</c:v>
                </c:pt>
                <c:pt idx="78">
                  <c:v>5.4</c:v>
                </c:pt>
                <c:pt idx="79">
                  <c:v>116</c:v>
                </c:pt>
                <c:pt idx="80">
                  <c:v>76.400000000000006</c:v>
                </c:pt>
                <c:pt idx="81">
                  <c:v>239.8</c:v>
                </c:pt>
                <c:pt idx="82">
                  <c:v>75.3</c:v>
                </c:pt>
                <c:pt idx="83">
                  <c:v>68.400000000000006</c:v>
                </c:pt>
                <c:pt idx="84">
                  <c:v>213.5</c:v>
                </c:pt>
                <c:pt idx="85">
                  <c:v>193.2</c:v>
                </c:pt>
                <c:pt idx="86">
                  <c:v>76.3</c:v>
                </c:pt>
                <c:pt idx="87">
                  <c:v>110.7</c:v>
                </c:pt>
                <c:pt idx="88">
                  <c:v>88.3</c:v>
                </c:pt>
                <c:pt idx="89">
                  <c:v>109.8</c:v>
                </c:pt>
                <c:pt idx="90">
                  <c:v>134.30000000000001</c:v>
                </c:pt>
                <c:pt idx="91">
                  <c:v>28.6</c:v>
                </c:pt>
                <c:pt idx="92">
                  <c:v>217.7</c:v>
                </c:pt>
                <c:pt idx="93">
                  <c:v>250.9</c:v>
                </c:pt>
                <c:pt idx="94">
                  <c:v>107.4</c:v>
                </c:pt>
                <c:pt idx="95">
                  <c:v>163.30000000000001</c:v>
                </c:pt>
                <c:pt idx="96">
                  <c:v>197.6</c:v>
                </c:pt>
                <c:pt idx="97">
                  <c:v>184.9</c:v>
                </c:pt>
                <c:pt idx="98">
                  <c:v>289.7</c:v>
                </c:pt>
                <c:pt idx="99">
                  <c:v>135.19999999999999</c:v>
                </c:pt>
                <c:pt idx="100">
                  <c:v>222.4</c:v>
                </c:pt>
                <c:pt idx="101">
                  <c:v>296.39999999999998</c:v>
                </c:pt>
                <c:pt idx="102">
                  <c:v>280.2</c:v>
                </c:pt>
                <c:pt idx="103">
                  <c:v>187.9</c:v>
                </c:pt>
                <c:pt idx="104">
                  <c:v>238.2</c:v>
                </c:pt>
                <c:pt idx="105">
                  <c:v>137.9</c:v>
                </c:pt>
                <c:pt idx="106">
                  <c:v>25</c:v>
                </c:pt>
                <c:pt idx="107">
                  <c:v>90.4</c:v>
                </c:pt>
                <c:pt idx="108">
                  <c:v>13.1</c:v>
                </c:pt>
                <c:pt idx="109">
                  <c:v>255.4</c:v>
                </c:pt>
                <c:pt idx="110">
                  <c:v>225.8</c:v>
                </c:pt>
                <c:pt idx="111">
                  <c:v>241.7</c:v>
                </c:pt>
                <c:pt idx="112">
                  <c:v>175.7</c:v>
                </c:pt>
                <c:pt idx="113">
                  <c:v>209.6</c:v>
                </c:pt>
                <c:pt idx="114">
                  <c:v>78.2</c:v>
                </c:pt>
                <c:pt idx="115">
                  <c:v>75.099999999999994</c:v>
                </c:pt>
                <c:pt idx="116">
                  <c:v>139.19999999999999</c:v>
                </c:pt>
                <c:pt idx="117">
                  <c:v>76.400000000000006</c:v>
                </c:pt>
                <c:pt idx="118">
                  <c:v>125.7</c:v>
                </c:pt>
                <c:pt idx="119">
                  <c:v>19.399999999999999</c:v>
                </c:pt>
                <c:pt idx="120">
                  <c:v>141.30000000000001</c:v>
                </c:pt>
                <c:pt idx="121">
                  <c:v>18.8</c:v>
                </c:pt>
                <c:pt idx="122">
                  <c:v>224</c:v>
                </c:pt>
                <c:pt idx="123">
                  <c:v>123.1</c:v>
                </c:pt>
                <c:pt idx="124">
                  <c:v>229.5</c:v>
                </c:pt>
                <c:pt idx="125">
                  <c:v>87.2</c:v>
                </c:pt>
                <c:pt idx="126">
                  <c:v>7.8</c:v>
                </c:pt>
                <c:pt idx="127">
                  <c:v>80.2</c:v>
                </c:pt>
                <c:pt idx="128">
                  <c:v>220.3</c:v>
                </c:pt>
                <c:pt idx="129">
                  <c:v>59.6</c:v>
                </c:pt>
                <c:pt idx="130">
                  <c:v>0.7</c:v>
                </c:pt>
                <c:pt idx="131">
                  <c:v>265.2</c:v>
                </c:pt>
                <c:pt idx="132">
                  <c:v>8.4</c:v>
                </c:pt>
                <c:pt idx="133">
                  <c:v>219.8</c:v>
                </c:pt>
                <c:pt idx="134">
                  <c:v>36.9</c:v>
                </c:pt>
                <c:pt idx="135">
                  <c:v>48.3</c:v>
                </c:pt>
                <c:pt idx="136">
                  <c:v>25.6</c:v>
                </c:pt>
                <c:pt idx="137">
                  <c:v>273.7</c:v>
                </c:pt>
                <c:pt idx="138">
                  <c:v>43</c:v>
                </c:pt>
                <c:pt idx="139">
                  <c:v>184.9</c:v>
                </c:pt>
                <c:pt idx="140">
                  <c:v>73.400000000000006</c:v>
                </c:pt>
                <c:pt idx="141">
                  <c:v>193.7</c:v>
                </c:pt>
                <c:pt idx="142">
                  <c:v>220.5</c:v>
                </c:pt>
                <c:pt idx="143">
                  <c:v>104.6</c:v>
                </c:pt>
                <c:pt idx="144">
                  <c:v>96.2</c:v>
                </c:pt>
                <c:pt idx="145">
                  <c:v>140.30000000000001</c:v>
                </c:pt>
                <c:pt idx="146">
                  <c:v>240.1</c:v>
                </c:pt>
                <c:pt idx="147">
                  <c:v>243.2</c:v>
                </c:pt>
                <c:pt idx="148">
                  <c:v>38</c:v>
                </c:pt>
                <c:pt idx="149">
                  <c:v>44.7</c:v>
                </c:pt>
                <c:pt idx="150">
                  <c:v>280.7</c:v>
                </c:pt>
                <c:pt idx="151">
                  <c:v>121</c:v>
                </c:pt>
                <c:pt idx="152">
                  <c:v>197.6</c:v>
                </c:pt>
                <c:pt idx="153">
                  <c:v>171.3</c:v>
                </c:pt>
                <c:pt idx="154">
                  <c:v>187.8</c:v>
                </c:pt>
                <c:pt idx="155">
                  <c:v>4.0999999999999996</c:v>
                </c:pt>
                <c:pt idx="156">
                  <c:v>93.9</c:v>
                </c:pt>
                <c:pt idx="157">
                  <c:v>149.80000000000001</c:v>
                </c:pt>
                <c:pt idx="158">
                  <c:v>11.7</c:v>
                </c:pt>
                <c:pt idx="159">
                  <c:v>131.69999999999999</c:v>
                </c:pt>
                <c:pt idx="160">
                  <c:v>172.5</c:v>
                </c:pt>
                <c:pt idx="161">
                  <c:v>85.7</c:v>
                </c:pt>
                <c:pt idx="162">
                  <c:v>188.4</c:v>
                </c:pt>
                <c:pt idx="163">
                  <c:v>163.5</c:v>
                </c:pt>
                <c:pt idx="164">
                  <c:v>117.2</c:v>
                </c:pt>
                <c:pt idx="165">
                  <c:v>234.5</c:v>
                </c:pt>
                <c:pt idx="166">
                  <c:v>17.899999999999999</c:v>
                </c:pt>
                <c:pt idx="167">
                  <c:v>206.8</c:v>
                </c:pt>
                <c:pt idx="168">
                  <c:v>215.4</c:v>
                </c:pt>
                <c:pt idx="169">
                  <c:v>284.3</c:v>
                </c:pt>
                <c:pt idx="170">
                  <c:v>50</c:v>
                </c:pt>
                <c:pt idx="171">
                  <c:v>164.5</c:v>
                </c:pt>
                <c:pt idx="172">
                  <c:v>19.600000000000001</c:v>
                </c:pt>
                <c:pt idx="173">
                  <c:v>168.4</c:v>
                </c:pt>
                <c:pt idx="174">
                  <c:v>222.4</c:v>
                </c:pt>
                <c:pt idx="175">
                  <c:v>276.89999999999998</c:v>
                </c:pt>
                <c:pt idx="176">
                  <c:v>248.4</c:v>
                </c:pt>
                <c:pt idx="177">
                  <c:v>170.2</c:v>
                </c:pt>
                <c:pt idx="178">
                  <c:v>276.7</c:v>
                </c:pt>
                <c:pt idx="179">
                  <c:v>165.6</c:v>
                </c:pt>
                <c:pt idx="180">
                  <c:v>156.6</c:v>
                </c:pt>
                <c:pt idx="181">
                  <c:v>218.5</c:v>
                </c:pt>
                <c:pt idx="182">
                  <c:v>56.2</c:v>
                </c:pt>
                <c:pt idx="183">
                  <c:v>287.60000000000002</c:v>
                </c:pt>
                <c:pt idx="184">
                  <c:v>253.8</c:v>
                </c:pt>
                <c:pt idx="185">
                  <c:v>205</c:v>
                </c:pt>
                <c:pt idx="186">
                  <c:v>139.5</c:v>
                </c:pt>
                <c:pt idx="187">
                  <c:v>191.1</c:v>
                </c:pt>
                <c:pt idx="188">
                  <c:v>286</c:v>
                </c:pt>
                <c:pt idx="189">
                  <c:v>18.7</c:v>
                </c:pt>
                <c:pt idx="190">
                  <c:v>39.5</c:v>
                </c:pt>
                <c:pt idx="191">
                  <c:v>75.5</c:v>
                </c:pt>
                <c:pt idx="192">
                  <c:v>17.2</c:v>
                </c:pt>
                <c:pt idx="193">
                  <c:v>166.8</c:v>
                </c:pt>
                <c:pt idx="194">
                  <c:v>149.69999999999999</c:v>
                </c:pt>
                <c:pt idx="195">
                  <c:v>38.200000000000003</c:v>
                </c:pt>
                <c:pt idx="196">
                  <c:v>94.2</c:v>
                </c:pt>
                <c:pt idx="197">
                  <c:v>177</c:v>
                </c:pt>
                <c:pt idx="198">
                  <c:v>283.60000000000002</c:v>
                </c:pt>
                <c:pt idx="199">
                  <c:v>232.1</c:v>
                </c:pt>
              </c:numCache>
            </c:numRef>
          </c:xVal>
          <c:yVal>
            <c:numRef>
              <c:f>'[Project 6 TV marketing regression.xlsx]Data'!$B$2:$B$201</c:f>
              <c:numCache>
                <c:formatCode>General</c:formatCode>
                <c:ptCount val="200"/>
                <c:pt idx="0">
                  <c:v>22.1</c:v>
                </c:pt>
                <c:pt idx="1">
                  <c:v>10.4</c:v>
                </c:pt>
                <c:pt idx="2">
                  <c:v>9.3000000000000007</c:v>
                </c:pt>
                <c:pt idx="3">
                  <c:v>18.5</c:v>
                </c:pt>
                <c:pt idx="4">
                  <c:v>12.9</c:v>
                </c:pt>
                <c:pt idx="5">
                  <c:v>7.2</c:v>
                </c:pt>
                <c:pt idx="6">
                  <c:v>11.8</c:v>
                </c:pt>
                <c:pt idx="7">
                  <c:v>13.2</c:v>
                </c:pt>
                <c:pt idx="8">
                  <c:v>4.8</c:v>
                </c:pt>
                <c:pt idx="9">
                  <c:v>10.6</c:v>
                </c:pt>
                <c:pt idx="10">
                  <c:v>8.6</c:v>
                </c:pt>
                <c:pt idx="11">
                  <c:v>17.399999999999999</c:v>
                </c:pt>
                <c:pt idx="12">
                  <c:v>9.1999999999999993</c:v>
                </c:pt>
                <c:pt idx="13">
                  <c:v>9.6999999999999993</c:v>
                </c:pt>
                <c:pt idx="14">
                  <c:v>19</c:v>
                </c:pt>
                <c:pt idx="15">
                  <c:v>22.4</c:v>
                </c:pt>
                <c:pt idx="16">
                  <c:v>12.5</c:v>
                </c:pt>
                <c:pt idx="17">
                  <c:v>24.4</c:v>
                </c:pt>
                <c:pt idx="18">
                  <c:v>11.3</c:v>
                </c:pt>
                <c:pt idx="19">
                  <c:v>14.6</c:v>
                </c:pt>
                <c:pt idx="20">
                  <c:v>18</c:v>
                </c:pt>
                <c:pt idx="21">
                  <c:v>12.5</c:v>
                </c:pt>
                <c:pt idx="22">
                  <c:v>5.6</c:v>
                </c:pt>
                <c:pt idx="23">
                  <c:v>15.5</c:v>
                </c:pt>
                <c:pt idx="24">
                  <c:v>9.6999999999999993</c:v>
                </c:pt>
                <c:pt idx="25">
                  <c:v>12</c:v>
                </c:pt>
                <c:pt idx="26">
                  <c:v>15</c:v>
                </c:pt>
                <c:pt idx="27">
                  <c:v>15.9</c:v>
                </c:pt>
                <c:pt idx="28">
                  <c:v>18.899999999999999</c:v>
                </c:pt>
                <c:pt idx="29">
                  <c:v>10.5</c:v>
                </c:pt>
                <c:pt idx="30">
                  <c:v>21.4</c:v>
                </c:pt>
                <c:pt idx="31">
                  <c:v>11.9</c:v>
                </c:pt>
                <c:pt idx="32">
                  <c:v>9.6</c:v>
                </c:pt>
                <c:pt idx="33">
                  <c:v>17.399999999999999</c:v>
                </c:pt>
                <c:pt idx="34">
                  <c:v>9.5</c:v>
                </c:pt>
                <c:pt idx="35">
                  <c:v>12.8</c:v>
                </c:pt>
                <c:pt idx="36">
                  <c:v>25.4</c:v>
                </c:pt>
                <c:pt idx="37">
                  <c:v>14.7</c:v>
                </c:pt>
                <c:pt idx="38">
                  <c:v>10.1</c:v>
                </c:pt>
                <c:pt idx="39">
                  <c:v>21.5</c:v>
                </c:pt>
                <c:pt idx="40">
                  <c:v>16.600000000000001</c:v>
                </c:pt>
                <c:pt idx="41">
                  <c:v>17.100000000000001</c:v>
                </c:pt>
                <c:pt idx="42">
                  <c:v>20.7</c:v>
                </c:pt>
                <c:pt idx="43">
                  <c:v>12.9</c:v>
                </c:pt>
                <c:pt idx="44">
                  <c:v>8.5</c:v>
                </c:pt>
                <c:pt idx="45">
                  <c:v>14.9</c:v>
                </c:pt>
                <c:pt idx="46">
                  <c:v>10.6</c:v>
                </c:pt>
                <c:pt idx="47">
                  <c:v>23.2</c:v>
                </c:pt>
                <c:pt idx="48">
                  <c:v>14.8</c:v>
                </c:pt>
                <c:pt idx="49">
                  <c:v>9.6999999999999993</c:v>
                </c:pt>
                <c:pt idx="50">
                  <c:v>11.4</c:v>
                </c:pt>
                <c:pt idx="51">
                  <c:v>10.7</c:v>
                </c:pt>
                <c:pt idx="52">
                  <c:v>22.6</c:v>
                </c:pt>
                <c:pt idx="53">
                  <c:v>21.2</c:v>
                </c:pt>
                <c:pt idx="54">
                  <c:v>20.2</c:v>
                </c:pt>
                <c:pt idx="55">
                  <c:v>23.7</c:v>
                </c:pt>
                <c:pt idx="56">
                  <c:v>5.5</c:v>
                </c:pt>
                <c:pt idx="57">
                  <c:v>13.2</c:v>
                </c:pt>
                <c:pt idx="58">
                  <c:v>23.8</c:v>
                </c:pt>
                <c:pt idx="59">
                  <c:v>18.399999999999999</c:v>
                </c:pt>
                <c:pt idx="60">
                  <c:v>8.1</c:v>
                </c:pt>
                <c:pt idx="61">
                  <c:v>24.2</c:v>
                </c:pt>
                <c:pt idx="62">
                  <c:v>15.7</c:v>
                </c:pt>
                <c:pt idx="63">
                  <c:v>14</c:v>
                </c:pt>
                <c:pt idx="64">
                  <c:v>18</c:v>
                </c:pt>
                <c:pt idx="65">
                  <c:v>9.3000000000000007</c:v>
                </c:pt>
                <c:pt idx="66">
                  <c:v>9.5</c:v>
                </c:pt>
                <c:pt idx="67">
                  <c:v>13.4</c:v>
                </c:pt>
                <c:pt idx="68">
                  <c:v>18.899999999999999</c:v>
                </c:pt>
                <c:pt idx="69">
                  <c:v>22.3</c:v>
                </c:pt>
                <c:pt idx="70">
                  <c:v>18.3</c:v>
                </c:pt>
                <c:pt idx="71">
                  <c:v>12.4</c:v>
                </c:pt>
                <c:pt idx="72">
                  <c:v>8.8000000000000007</c:v>
                </c:pt>
                <c:pt idx="73">
                  <c:v>11</c:v>
                </c:pt>
                <c:pt idx="74">
                  <c:v>17</c:v>
                </c:pt>
                <c:pt idx="75">
                  <c:v>8.6999999999999993</c:v>
                </c:pt>
                <c:pt idx="76">
                  <c:v>6.9</c:v>
                </c:pt>
                <c:pt idx="77">
                  <c:v>14.2</c:v>
                </c:pt>
                <c:pt idx="78">
                  <c:v>5.3</c:v>
                </c:pt>
                <c:pt idx="79">
                  <c:v>11</c:v>
                </c:pt>
                <c:pt idx="80">
                  <c:v>11.8</c:v>
                </c:pt>
                <c:pt idx="81">
                  <c:v>12.3</c:v>
                </c:pt>
                <c:pt idx="82">
                  <c:v>11.3</c:v>
                </c:pt>
                <c:pt idx="83">
                  <c:v>13.6</c:v>
                </c:pt>
                <c:pt idx="84">
                  <c:v>21.7</c:v>
                </c:pt>
                <c:pt idx="85">
                  <c:v>15.2</c:v>
                </c:pt>
                <c:pt idx="86">
                  <c:v>12</c:v>
                </c:pt>
                <c:pt idx="87">
                  <c:v>16</c:v>
                </c:pt>
                <c:pt idx="88">
                  <c:v>12.9</c:v>
                </c:pt>
                <c:pt idx="89">
                  <c:v>16.7</c:v>
                </c:pt>
                <c:pt idx="90">
                  <c:v>11.2</c:v>
                </c:pt>
                <c:pt idx="91">
                  <c:v>7.3</c:v>
                </c:pt>
                <c:pt idx="92">
                  <c:v>19.399999999999999</c:v>
                </c:pt>
                <c:pt idx="93">
                  <c:v>22.2</c:v>
                </c:pt>
                <c:pt idx="94">
                  <c:v>11.5</c:v>
                </c:pt>
                <c:pt idx="95">
                  <c:v>16.899999999999999</c:v>
                </c:pt>
                <c:pt idx="96">
                  <c:v>11.7</c:v>
                </c:pt>
                <c:pt idx="97">
                  <c:v>15.5</c:v>
                </c:pt>
                <c:pt idx="98">
                  <c:v>25.4</c:v>
                </c:pt>
                <c:pt idx="99">
                  <c:v>17.2</c:v>
                </c:pt>
                <c:pt idx="100">
                  <c:v>11.7</c:v>
                </c:pt>
                <c:pt idx="101">
                  <c:v>23.8</c:v>
                </c:pt>
                <c:pt idx="102">
                  <c:v>14.8</c:v>
                </c:pt>
                <c:pt idx="103">
                  <c:v>14.7</c:v>
                </c:pt>
                <c:pt idx="104">
                  <c:v>20.7</c:v>
                </c:pt>
                <c:pt idx="105">
                  <c:v>19.2</c:v>
                </c:pt>
                <c:pt idx="106">
                  <c:v>7.2</c:v>
                </c:pt>
                <c:pt idx="107">
                  <c:v>8.6999999999999993</c:v>
                </c:pt>
                <c:pt idx="108">
                  <c:v>5.3</c:v>
                </c:pt>
                <c:pt idx="109">
                  <c:v>19.8</c:v>
                </c:pt>
                <c:pt idx="110">
                  <c:v>13.4</c:v>
                </c:pt>
                <c:pt idx="111">
                  <c:v>21.8</c:v>
                </c:pt>
                <c:pt idx="112">
                  <c:v>14.1</c:v>
                </c:pt>
                <c:pt idx="113">
                  <c:v>15.9</c:v>
                </c:pt>
                <c:pt idx="114">
                  <c:v>14.6</c:v>
                </c:pt>
                <c:pt idx="115">
                  <c:v>12.6</c:v>
                </c:pt>
                <c:pt idx="116">
                  <c:v>12.2</c:v>
                </c:pt>
                <c:pt idx="117">
                  <c:v>9.4</c:v>
                </c:pt>
                <c:pt idx="118">
                  <c:v>15.9</c:v>
                </c:pt>
                <c:pt idx="119">
                  <c:v>6.6</c:v>
                </c:pt>
                <c:pt idx="120">
                  <c:v>15.5</c:v>
                </c:pt>
                <c:pt idx="121">
                  <c:v>7</c:v>
                </c:pt>
                <c:pt idx="122">
                  <c:v>11.6</c:v>
                </c:pt>
                <c:pt idx="123">
                  <c:v>15.2</c:v>
                </c:pt>
                <c:pt idx="124">
                  <c:v>19.7</c:v>
                </c:pt>
                <c:pt idx="125">
                  <c:v>10.6</c:v>
                </c:pt>
                <c:pt idx="126">
                  <c:v>6.6</c:v>
                </c:pt>
                <c:pt idx="127">
                  <c:v>8.8000000000000007</c:v>
                </c:pt>
                <c:pt idx="128">
                  <c:v>24.7</c:v>
                </c:pt>
                <c:pt idx="129">
                  <c:v>9.6999999999999993</c:v>
                </c:pt>
                <c:pt idx="130">
                  <c:v>1.6</c:v>
                </c:pt>
                <c:pt idx="131">
                  <c:v>12.7</c:v>
                </c:pt>
                <c:pt idx="132">
                  <c:v>5.7</c:v>
                </c:pt>
                <c:pt idx="133">
                  <c:v>19.600000000000001</c:v>
                </c:pt>
                <c:pt idx="134">
                  <c:v>10.8</c:v>
                </c:pt>
                <c:pt idx="135">
                  <c:v>11.6</c:v>
                </c:pt>
                <c:pt idx="136">
                  <c:v>9.5</c:v>
                </c:pt>
                <c:pt idx="137">
                  <c:v>20.8</c:v>
                </c:pt>
                <c:pt idx="138">
                  <c:v>9.6</c:v>
                </c:pt>
                <c:pt idx="139">
                  <c:v>20.7</c:v>
                </c:pt>
                <c:pt idx="140">
                  <c:v>10.9</c:v>
                </c:pt>
                <c:pt idx="141">
                  <c:v>19.2</c:v>
                </c:pt>
                <c:pt idx="142">
                  <c:v>20.100000000000001</c:v>
                </c:pt>
                <c:pt idx="143">
                  <c:v>10.4</c:v>
                </c:pt>
                <c:pt idx="144">
                  <c:v>11.4</c:v>
                </c:pt>
                <c:pt idx="145">
                  <c:v>10.3</c:v>
                </c:pt>
                <c:pt idx="146">
                  <c:v>13.2</c:v>
                </c:pt>
                <c:pt idx="147">
                  <c:v>25.4</c:v>
                </c:pt>
                <c:pt idx="148">
                  <c:v>10.9</c:v>
                </c:pt>
                <c:pt idx="149">
                  <c:v>10.1</c:v>
                </c:pt>
                <c:pt idx="150">
                  <c:v>16.100000000000001</c:v>
                </c:pt>
                <c:pt idx="151">
                  <c:v>11.6</c:v>
                </c:pt>
                <c:pt idx="152">
                  <c:v>16.600000000000001</c:v>
                </c:pt>
                <c:pt idx="153">
                  <c:v>19</c:v>
                </c:pt>
                <c:pt idx="154">
                  <c:v>15.6</c:v>
                </c:pt>
                <c:pt idx="155">
                  <c:v>3.2</c:v>
                </c:pt>
                <c:pt idx="156">
                  <c:v>15.3</c:v>
                </c:pt>
                <c:pt idx="157">
                  <c:v>10.1</c:v>
                </c:pt>
                <c:pt idx="158">
                  <c:v>7.3</c:v>
                </c:pt>
                <c:pt idx="159">
                  <c:v>12.9</c:v>
                </c:pt>
                <c:pt idx="160">
                  <c:v>14.4</c:v>
                </c:pt>
                <c:pt idx="161">
                  <c:v>13.3</c:v>
                </c:pt>
                <c:pt idx="162">
                  <c:v>14.9</c:v>
                </c:pt>
                <c:pt idx="163">
                  <c:v>18</c:v>
                </c:pt>
                <c:pt idx="164">
                  <c:v>11.9</c:v>
                </c:pt>
                <c:pt idx="165">
                  <c:v>11.9</c:v>
                </c:pt>
                <c:pt idx="166">
                  <c:v>8</c:v>
                </c:pt>
                <c:pt idx="167">
                  <c:v>12.2</c:v>
                </c:pt>
                <c:pt idx="168">
                  <c:v>17.100000000000001</c:v>
                </c:pt>
                <c:pt idx="169">
                  <c:v>15</c:v>
                </c:pt>
                <c:pt idx="170">
                  <c:v>8.4</c:v>
                </c:pt>
                <c:pt idx="171">
                  <c:v>14.5</c:v>
                </c:pt>
                <c:pt idx="172">
                  <c:v>7.6</c:v>
                </c:pt>
                <c:pt idx="173">
                  <c:v>11.7</c:v>
                </c:pt>
                <c:pt idx="174">
                  <c:v>11.5</c:v>
                </c:pt>
                <c:pt idx="175">
                  <c:v>27</c:v>
                </c:pt>
                <c:pt idx="176">
                  <c:v>20.2</c:v>
                </c:pt>
                <c:pt idx="177">
                  <c:v>11.7</c:v>
                </c:pt>
                <c:pt idx="178">
                  <c:v>11.8</c:v>
                </c:pt>
                <c:pt idx="179">
                  <c:v>12.6</c:v>
                </c:pt>
                <c:pt idx="180">
                  <c:v>10.5</c:v>
                </c:pt>
                <c:pt idx="181">
                  <c:v>12.2</c:v>
                </c:pt>
                <c:pt idx="182">
                  <c:v>8.6999999999999993</c:v>
                </c:pt>
                <c:pt idx="183">
                  <c:v>26.2</c:v>
                </c:pt>
                <c:pt idx="184">
                  <c:v>17.600000000000001</c:v>
                </c:pt>
                <c:pt idx="185">
                  <c:v>22.6</c:v>
                </c:pt>
                <c:pt idx="186">
                  <c:v>10.3</c:v>
                </c:pt>
                <c:pt idx="187">
                  <c:v>17.3</c:v>
                </c:pt>
                <c:pt idx="188">
                  <c:v>15.9</c:v>
                </c:pt>
                <c:pt idx="189">
                  <c:v>6.7</c:v>
                </c:pt>
                <c:pt idx="190">
                  <c:v>10.8</c:v>
                </c:pt>
                <c:pt idx="191">
                  <c:v>9.9</c:v>
                </c:pt>
                <c:pt idx="192">
                  <c:v>5.9</c:v>
                </c:pt>
                <c:pt idx="193">
                  <c:v>19.600000000000001</c:v>
                </c:pt>
                <c:pt idx="194">
                  <c:v>17.3</c:v>
                </c:pt>
                <c:pt idx="195">
                  <c:v>7.6</c:v>
                </c:pt>
                <c:pt idx="196">
                  <c:v>9.6999999999999993</c:v>
                </c:pt>
                <c:pt idx="197">
                  <c:v>12.8</c:v>
                </c:pt>
                <c:pt idx="198">
                  <c:v>25.5</c:v>
                </c:pt>
                <c:pt idx="199">
                  <c:v>13.4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79C-4D95-BE50-F803D29299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8262831"/>
        <c:axId val="2098274351"/>
      </c:scatterChart>
      <c:valAx>
        <c:axId val="20982628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TV Advertising</a:t>
                </a:r>
                <a:r>
                  <a:rPr lang="en-GB" baseline="0"/>
                  <a:t> Expenditure</a:t>
                </a:r>
                <a:r>
                  <a:rPr lang="en-GB"/>
                  <a:t> (£ Hundreds)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274351"/>
        <c:crosses val="autoZero"/>
        <c:crossBetween val="midCat"/>
      </c:valAx>
      <c:valAx>
        <c:axId val="2098274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Sales (£ Thousands)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2628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Residuals plot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'[Project 6 TV marketing regression.xlsx]Data'!$A$2:$A$201</c:f>
              <c:numCache>
                <c:formatCode>General</c:formatCode>
                <c:ptCount val="200"/>
                <c:pt idx="0">
                  <c:v>230.1</c:v>
                </c:pt>
                <c:pt idx="1">
                  <c:v>44.5</c:v>
                </c:pt>
                <c:pt idx="2">
                  <c:v>17.2</c:v>
                </c:pt>
                <c:pt idx="3">
                  <c:v>151.5</c:v>
                </c:pt>
                <c:pt idx="4">
                  <c:v>180.8</c:v>
                </c:pt>
                <c:pt idx="5">
                  <c:v>8.6999999999999993</c:v>
                </c:pt>
                <c:pt idx="6">
                  <c:v>57.5</c:v>
                </c:pt>
                <c:pt idx="7">
                  <c:v>120.2</c:v>
                </c:pt>
                <c:pt idx="8">
                  <c:v>8.6</c:v>
                </c:pt>
                <c:pt idx="9">
                  <c:v>199.8</c:v>
                </c:pt>
                <c:pt idx="10">
                  <c:v>66.099999999999994</c:v>
                </c:pt>
                <c:pt idx="11">
                  <c:v>214.7</c:v>
                </c:pt>
                <c:pt idx="12">
                  <c:v>23.8</c:v>
                </c:pt>
                <c:pt idx="13">
                  <c:v>97.5</c:v>
                </c:pt>
                <c:pt idx="14">
                  <c:v>204.1</c:v>
                </c:pt>
                <c:pt idx="15">
                  <c:v>195.4</c:v>
                </c:pt>
                <c:pt idx="16">
                  <c:v>67.8</c:v>
                </c:pt>
                <c:pt idx="17">
                  <c:v>281.39999999999998</c:v>
                </c:pt>
                <c:pt idx="18">
                  <c:v>69.2</c:v>
                </c:pt>
                <c:pt idx="19">
                  <c:v>147.30000000000001</c:v>
                </c:pt>
                <c:pt idx="20">
                  <c:v>218.4</c:v>
                </c:pt>
                <c:pt idx="21">
                  <c:v>237.4</c:v>
                </c:pt>
                <c:pt idx="22">
                  <c:v>13.2</c:v>
                </c:pt>
                <c:pt idx="23">
                  <c:v>228.3</c:v>
                </c:pt>
                <c:pt idx="24">
                  <c:v>62.3</c:v>
                </c:pt>
                <c:pt idx="25">
                  <c:v>262.89999999999998</c:v>
                </c:pt>
                <c:pt idx="26">
                  <c:v>142.9</c:v>
                </c:pt>
                <c:pt idx="27">
                  <c:v>240.1</c:v>
                </c:pt>
                <c:pt idx="28">
                  <c:v>248.8</c:v>
                </c:pt>
                <c:pt idx="29">
                  <c:v>70.599999999999994</c:v>
                </c:pt>
                <c:pt idx="30">
                  <c:v>292.89999999999998</c:v>
                </c:pt>
                <c:pt idx="31">
                  <c:v>112.9</c:v>
                </c:pt>
                <c:pt idx="32">
                  <c:v>97.2</c:v>
                </c:pt>
                <c:pt idx="33">
                  <c:v>265.60000000000002</c:v>
                </c:pt>
                <c:pt idx="34">
                  <c:v>95.7</c:v>
                </c:pt>
                <c:pt idx="35">
                  <c:v>290.7</c:v>
                </c:pt>
                <c:pt idx="36">
                  <c:v>266.89999999999998</c:v>
                </c:pt>
                <c:pt idx="37">
                  <c:v>74.7</c:v>
                </c:pt>
                <c:pt idx="38">
                  <c:v>43.1</c:v>
                </c:pt>
                <c:pt idx="39">
                  <c:v>228</c:v>
                </c:pt>
                <c:pt idx="40">
                  <c:v>202.5</c:v>
                </c:pt>
                <c:pt idx="41">
                  <c:v>177</c:v>
                </c:pt>
                <c:pt idx="42">
                  <c:v>293.60000000000002</c:v>
                </c:pt>
                <c:pt idx="43">
                  <c:v>206.9</c:v>
                </c:pt>
                <c:pt idx="44">
                  <c:v>25.1</c:v>
                </c:pt>
                <c:pt idx="45">
                  <c:v>175.1</c:v>
                </c:pt>
                <c:pt idx="46">
                  <c:v>89.7</c:v>
                </c:pt>
                <c:pt idx="47">
                  <c:v>239.9</c:v>
                </c:pt>
                <c:pt idx="48">
                  <c:v>227.2</c:v>
                </c:pt>
                <c:pt idx="49">
                  <c:v>66.900000000000006</c:v>
                </c:pt>
                <c:pt idx="50">
                  <c:v>199.8</c:v>
                </c:pt>
                <c:pt idx="51">
                  <c:v>100.4</c:v>
                </c:pt>
                <c:pt idx="52">
                  <c:v>216.4</c:v>
                </c:pt>
                <c:pt idx="53">
                  <c:v>182.6</c:v>
                </c:pt>
                <c:pt idx="54">
                  <c:v>262.7</c:v>
                </c:pt>
                <c:pt idx="55">
                  <c:v>198.9</c:v>
                </c:pt>
                <c:pt idx="56">
                  <c:v>7.3</c:v>
                </c:pt>
                <c:pt idx="57">
                  <c:v>136.19999999999999</c:v>
                </c:pt>
                <c:pt idx="58">
                  <c:v>210.8</c:v>
                </c:pt>
                <c:pt idx="59">
                  <c:v>210.7</c:v>
                </c:pt>
                <c:pt idx="60">
                  <c:v>53.5</c:v>
                </c:pt>
                <c:pt idx="61">
                  <c:v>261.3</c:v>
                </c:pt>
                <c:pt idx="62">
                  <c:v>239.3</c:v>
                </c:pt>
                <c:pt idx="63">
                  <c:v>102.7</c:v>
                </c:pt>
                <c:pt idx="64">
                  <c:v>131.1</c:v>
                </c:pt>
                <c:pt idx="65">
                  <c:v>69</c:v>
                </c:pt>
                <c:pt idx="66">
                  <c:v>31.5</c:v>
                </c:pt>
                <c:pt idx="67">
                  <c:v>139.30000000000001</c:v>
                </c:pt>
                <c:pt idx="68">
                  <c:v>237.4</c:v>
                </c:pt>
                <c:pt idx="69">
                  <c:v>216.8</c:v>
                </c:pt>
                <c:pt idx="70">
                  <c:v>199.1</c:v>
                </c:pt>
                <c:pt idx="71">
                  <c:v>109.8</c:v>
                </c:pt>
                <c:pt idx="72">
                  <c:v>26.8</c:v>
                </c:pt>
                <c:pt idx="73">
                  <c:v>129.4</c:v>
                </c:pt>
                <c:pt idx="74">
                  <c:v>213.4</c:v>
                </c:pt>
                <c:pt idx="75">
                  <c:v>16.899999999999999</c:v>
                </c:pt>
                <c:pt idx="76">
                  <c:v>27.5</c:v>
                </c:pt>
                <c:pt idx="77">
                  <c:v>120.5</c:v>
                </c:pt>
                <c:pt idx="78">
                  <c:v>5.4</c:v>
                </c:pt>
                <c:pt idx="79">
                  <c:v>116</c:v>
                </c:pt>
                <c:pt idx="80">
                  <c:v>76.400000000000006</c:v>
                </c:pt>
                <c:pt idx="81">
                  <c:v>239.8</c:v>
                </c:pt>
                <c:pt idx="82">
                  <c:v>75.3</c:v>
                </c:pt>
                <c:pt idx="83">
                  <c:v>68.400000000000006</c:v>
                </c:pt>
                <c:pt idx="84">
                  <c:v>213.5</c:v>
                </c:pt>
                <c:pt idx="85">
                  <c:v>193.2</c:v>
                </c:pt>
                <c:pt idx="86">
                  <c:v>76.3</c:v>
                </c:pt>
                <c:pt idx="87">
                  <c:v>110.7</c:v>
                </c:pt>
                <c:pt idx="88">
                  <c:v>88.3</c:v>
                </c:pt>
                <c:pt idx="89">
                  <c:v>109.8</c:v>
                </c:pt>
                <c:pt idx="90">
                  <c:v>134.30000000000001</c:v>
                </c:pt>
                <c:pt idx="91">
                  <c:v>28.6</c:v>
                </c:pt>
                <c:pt idx="92">
                  <c:v>217.7</c:v>
                </c:pt>
                <c:pt idx="93">
                  <c:v>250.9</c:v>
                </c:pt>
                <c:pt idx="94">
                  <c:v>107.4</c:v>
                </c:pt>
                <c:pt idx="95">
                  <c:v>163.30000000000001</c:v>
                </c:pt>
                <c:pt idx="96">
                  <c:v>197.6</c:v>
                </c:pt>
                <c:pt idx="97">
                  <c:v>184.9</c:v>
                </c:pt>
                <c:pt idx="98">
                  <c:v>289.7</c:v>
                </c:pt>
                <c:pt idx="99">
                  <c:v>135.19999999999999</c:v>
                </c:pt>
                <c:pt idx="100">
                  <c:v>222.4</c:v>
                </c:pt>
                <c:pt idx="101">
                  <c:v>296.39999999999998</c:v>
                </c:pt>
                <c:pt idx="102">
                  <c:v>280.2</c:v>
                </c:pt>
                <c:pt idx="103">
                  <c:v>187.9</c:v>
                </c:pt>
                <c:pt idx="104">
                  <c:v>238.2</c:v>
                </c:pt>
                <c:pt idx="105">
                  <c:v>137.9</c:v>
                </c:pt>
                <c:pt idx="106">
                  <c:v>25</c:v>
                </c:pt>
                <c:pt idx="107">
                  <c:v>90.4</c:v>
                </c:pt>
                <c:pt idx="108">
                  <c:v>13.1</c:v>
                </c:pt>
                <c:pt idx="109">
                  <c:v>255.4</c:v>
                </c:pt>
                <c:pt idx="110">
                  <c:v>225.8</c:v>
                </c:pt>
                <c:pt idx="111">
                  <c:v>241.7</c:v>
                </c:pt>
                <c:pt idx="112">
                  <c:v>175.7</c:v>
                </c:pt>
                <c:pt idx="113">
                  <c:v>209.6</c:v>
                </c:pt>
                <c:pt idx="114">
                  <c:v>78.2</c:v>
                </c:pt>
                <c:pt idx="115">
                  <c:v>75.099999999999994</c:v>
                </c:pt>
                <c:pt idx="116">
                  <c:v>139.19999999999999</c:v>
                </c:pt>
                <c:pt idx="117">
                  <c:v>76.400000000000006</c:v>
                </c:pt>
                <c:pt idx="118">
                  <c:v>125.7</c:v>
                </c:pt>
                <c:pt idx="119">
                  <c:v>19.399999999999999</c:v>
                </c:pt>
                <c:pt idx="120">
                  <c:v>141.30000000000001</c:v>
                </c:pt>
                <c:pt idx="121">
                  <c:v>18.8</c:v>
                </c:pt>
                <c:pt idx="122">
                  <c:v>224</c:v>
                </c:pt>
                <c:pt idx="123">
                  <c:v>123.1</c:v>
                </c:pt>
                <c:pt idx="124">
                  <c:v>229.5</c:v>
                </c:pt>
                <c:pt idx="125">
                  <c:v>87.2</c:v>
                </c:pt>
                <c:pt idx="126">
                  <c:v>7.8</c:v>
                </c:pt>
                <c:pt idx="127">
                  <c:v>80.2</c:v>
                </c:pt>
                <c:pt idx="128">
                  <c:v>220.3</c:v>
                </c:pt>
                <c:pt idx="129">
                  <c:v>59.6</c:v>
                </c:pt>
                <c:pt idx="130">
                  <c:v>0.7</c:v>
                </c:pt>
                <c:pt idx="131">
                  <c:v>265.2</c:v>
                </c:pt>
                <c:pt idx="132">
                  <c:v>8.4</c:v>
                </c:pt>
                <c:pt idx="133">
                  <c:v>219.8</c:v>
                </c:pt>
                <c:pt idx="134">
                  <c:v>36.9</c:v>
                </c:pt>
                <c:pt idx="135">
                  <c:v>48.3</c:v>
                </c:pt>
                <c:pt idx="136">
                  <c:v>25.6</c:v>
                </c:pt>
                <c:pt idx="137">
                  <c:v>273.7</c:v>
                </c:pt>
                <c:pt idx="138">
                  <c:v>43</c:v>
                </c:pt>
                <c:pt idx="139">
                  <c:v>184.9</c:v>
                </c:pt>
                <c:pt idx="140">
                  <c:v>73.400000000000006</c:v>
                </c:pt>
                <c:pt idx="141">
                  <c:v>193.7</c:v>
                </c:pt>
                <c:pt idx="142">
                  <c:v>220.5</c:v>
                </c:pt>
                <c:pt idx="143">
                  <c:v>104.6</c:v>
                </c:pt>
                <c:pt idx="144">
                  <c:v>96.2</c:v>
                </c:pt>
                <c:pt idx="145">
                  <c:v>140.30000000000001</c:v>
                </c:pt>
                <c:pt idx="146">
                  <c:v>240.1</c:v>
                </c:pt>
                <c:pt idx="147">
                  <c:v>243.2</c:v>
                </c:pt>
                <c:pt idx="148">
                  <c:v>38</c:v>
                </c:pt>
                <c:pt idx="149">
                  <c:v>44.7</c:v>
                </c:pt>
                <c:pt idx="150">
                  <c:v>280.7</c:v>
                </c:pt>
                <c:pt idx="151">
                  <c:v>121</c:v>
                </c:pt>
                <c:pt idx="152">
                  <c:v>197.6</c:v>
                </c:pt>
                <c:pt idx="153">
                  <c:v>171.3</c:v>
                </c:pt>
                <c:pt idx="154">
                  <c:v>187.8</c:v>
                </c:pt>
                <c:pt idx="155">
                  <c:v>4.0999999999999996</c:v>
                </c:pt>
                <c:pt idx="156">
                  <c:v>93.9</c:v>
                </c:pt>
                <c:pt idx="157">
                  <c:v>149.80000000000001</c:v>
                </c:pt>
                <c:pt idx="158">
                  <c:v>11.7</c:v>
                </c:pt>
                <c:pt idx="159">
                  <c:v>131.69999999999999</c:v>
                </c:pt>
                <c:pt idx="160">
                  <c:v>172.5</c:v>
                </c:pt>
                <c:pt idx="161">
                  <c:v>85.7</c:v>
                </c:pt>
                <c:pt idx="162">
                  <c:v>188.4</c:v>
                </c:pt>
                <c:pt idx="163">
                  <c:v>163.5</c:v>
                </c:pt>
                <c:pt idx="164">
                  <c:v>117.2</c:v>
                </c:pt>
                <c:pt idx="165">
                  <c:v>234.5</c:v>
                </c:pt>
                <c:pt idx="166">
                  <c:v>17.899999999999999</c:v>
                </c:pt>
                <c:pt idx="167">
                  <c:v>206.8</c:v>
                </c:pt>
                <c:pt idx="168">
                  <c:v>215.4</c:v>
                </c:pt>
                <c:pt idx="169">
                  <c:v>284.3</c:v>
                </c:pt>
                <c:pt idx="170">
                  <c:v>50</c:v>
                </c:pt>
                <c:pt idx="171">
                  <c:v>164.5</c:v>
                </c:pt>
                <c:pt idx="172">
                  <c:v>19.600000000000001</c:v>
                </c:pt>
                <c:pt idx="173">
                  <c:v>168.4</c:v>
                </c:pt>
                <c:pt idx="174">
                  <c:v>222.4</c:v>
                </c:pt>
                <c:pt idx="175">
                  <c:v>276.89999999999998</c:v>
                </c:pt>
                <c:pt idx="176">
                  <c:v>248.4</c:v>
                </c:pt>
                <c:pt idx="177">
                  <c:v>170.2</c:v>
                </c:pt>
                <c:pt idx="178">
                  <c:v>276.7</c:v>
                </c:pt>
                <c:pt idx="179">
                  <c:v>165.6</c:v>
                </c:pt>
                <c:pt idx="180">
                  <c:v>156.6</c:v>
                </c:pt>
                <c:pt idx="181">
                  <c:v>218.5</c:v>
                </c:pt>
                <c:pt idx="182">
                  <c:v>56.2</c:v>
                </c:pt>
                <c:pt idx="183">
                  <c:v>287.60000000000002</c:v>
                </c:pt>
                <c:pt idx="184">
                  <c:v>253.8</c:v>
                </c:pt>
                <c:pt idx="185">
                  <c:v>205</c:v>
                </c:pt>
                <c:pt idx="186">
                  <c:v>139.5</c:v>
                </c:pt>
                <c:pt idx="187">
                  <c:v>191.1</c:v>
                </c:pt>
                <c:pt idx="188">
                  <c:v>286</c:v>
                </c:pt>
                <c:pt idx="189">
                  <c:v>18.7</c:v>
                </c:pt>
                <c:pt idx="190">
                  <c:v>39.5</c:v>
                </c:pt>
                <c:pt idx="191">
                  <c:v>75.5</c:v>
                </c:pt>
                <c:pt idx="192">
                  <c:v>17.2</c:v>
                </c:pt>
                <c:pt idx="193">
                  <c:v>166.8</c:v>
                </c:pt>
                <c:pt idx="194">
                  <c:v>149.69999999999999</c:v>
                </c:pt>
                <c:pt idx="195">
                  <c:v>38.200000000000003</c:v>
                </c:pt>
                <c:pt idx="196">
                  <c:v>94.2</c:v>
                </c:pt>
                <c:pt idx="197">
                  <c:v>177</c:v>
                </c:pt>
                <c:pt idx="198">
                  <c:v>283.60000000000002</c:v>
                </c:pt>
                <c:pt idx="199">
                  <c:v>232.1</c:v>
                </c:pt>
              </c:numCache>
            </c:numRef>
          </c:xVal>
          <c:yVal>
            <c:numRef>
              <c:f>'[Project 6 TV marketing regression.xlsx]Data'!$D$2:$D$201</c:f>
              <c:numCache>
                <c:formatCode>General</c:formatCode>
                <c:ptCount val="200"/>
                <c:pt idx="0">
                  <c:v>4.1292254872344643</c:v>
                </c:pt>
                <c:pt idx="1">
                  <c:v>1.2520259516029189</c:v>
                </c:pt>
                <c:pt idx="2">
                  <c:v>1.4497762354243564</c:v>
                </c:pt>
                <c:pt idx="3">
                  <c:v>4.2656054252698112</c:v>
                </c:pt>
                <c:pt idx="4">
                  <c:v>-2.7272181394176656</c:v>
                </c:pt>
                <c:pt idx="5">
                  <c:v>-0.24616232089497636</c:v>
                </c:pt>
                <c:pt idx="6">
                  <c:v>2.0340496259736636</c:v>
                </c:pt>
                <c:pt idx="7">
                  <c:v>0.4535022708233285</c:v>
                </c:pt>
                <c:pt idx="8">
                  <c:v>-2.6414086568516746</c:v>
                </c:pt>
                <c:pt idx="9">
                  <c:v>-5.9304143076450391</c:v>
                </c:pt>
                <c:pt idx="10">
                  <c:v>-1.5747654817503065</c:v>
                </c:pt>
                <c:pt idx="11">
                  <c:v>0.16128974990296641</c:v>
                </c:pt>
                <c:pt idx="12">
                  <c:v>1.0360344085664259</c:v>
                </c:pt>
                <c:pt idx="13">
                  <c:v>-1.9674159913471261</c:v>
                </c:pt>
                <c:pt idx="14">
                  <c:v>2.2651781384929777</c:v>
                </c:pt>
                <c:pt idx="15">
                  <c:v>6.0787469102602465</c:v>
                </c:pt>
                <c:pt idx="16">
                  <c:v>2.2444222295135603</c:v>
                </c:pt>
                <c:pt idx="17">
                  <c:v>3.9905958330205564</c:v>
                </c:pt>
                <c:pt idx="18">
                  <c:v>0.97787093290733296</c:v>
                </c:pt>
                <c:pt idx="19">
                  <c:v>0.56525931508849503</c:v>
                </c:pt>
                <c:pt idx="20">
                  <c:v>0.58540418030079522</c:v>
                </c:pt>
                <c:pt idx="21">
                  <c:v>-5.8177919879265794</c:v>
                </c:pt>
                <c:pt idx="22">
                  <c:v>-2.0600772028435657</c:v>
                </c:pt>
                <c:pt idx="23">
                  <c:v>-2.3852085599861006</c:v>
                </c:pt>
                <c:pt idx="24">
                  <c:v>-0.29412624810483301</c:v>
                </c:pt>
                <c:pt idx="25">
                  <c:v>-7.5299763189685791</c:v>
                </c:pt>
                <c:pt idx="26">
                  <c:v>1.174420532993782</c:v>
                </c:pt>
                <c:pt idx="27">
                  <c:v>-2.5461409170957321</c:v>
                </c:pt>
                <c:pt idx="28">
                  <c:v>4.0290311136992329E-2</c:v>
                </c:pt>
                <c:pt idx="29">
                  <c:v>0.1113196363011042</c:v>
                </c:pt>
                <c:pt idx="30">
                  <c:v>0.44392446804082653</c:v>
                </c:pt>
                <c:pt idx="31">
                  <c:v>-0.49948025401562823</c:v>
                </c:pt>
                <c:pt idx="32">
                  <c:v>-2.0531549992172184</c:v>
                </c:pt>
                <c:pt idx="33">
                  <c:v>-2.2583252481377372</c:v>
                </c:pt>
                <c:pt idx="34">
                  <c:v>-2.0818500385676906</c:v>
                </c:pt>
                <c:pt idx="35">
                  <c:v>-8.0514949230065262</c:v>
                </c:pt>
                <c:pt idx="36">
                  <c:v>5.6798771192993414</c:v>
                </c:pt>
                <c:pt idx="37">
                  <c:v>4.1164194105257224</c:v>
                </c:pt>
                <c:pt idx="38">
                  <c:v>1.0185772482091462</c:v>
                </c:pt>
                <c:pt idx="39">
                  <c:v>3.6290524321438085</c:v>
                </c:pt>
                <c:pt idx="40">
                  <c:v>-5.8763236814190378E-2</c:v>
                </c:pt>
                <c:pt idx="41">
                  <c:v>1.6534210942278111</c:v>
                </c:pt>
                <c:pt idx="42">
                  <c:v>-0.28935118026228679</c:v>
                </c:pt>
                <c:pt idx="43">
                  <c:v>-3.9679244547194781</c:v>
                </c:pt>
                <c:pt idx="44">
                  <c:v>0.27423677600349983</c:v>
                </c:pt>
                <c:pt idx="45">
                  <c:v>-0.45625928894945211</c:v>
                </c:pt>
                <c:pt idx="46">
                  <c:v>-0.69663019596957199</c:v>
                </c:pt>
                <c:pt idx="47">
                  <c:v>4.7633664109908729</c:v>
                </c:pt>
                <c:pt idx="48">
                  <c:v>-3.0329182555097773</c:v>
                </c:pt>
                <c:pt idx="49">
                  <c:v>-0.5127947940967239</c:v>
                </c:pt>
                <c:pt idx="50">
                  <c:v>-5.1304143076450384</c:v>
                </c:pt>
                <c:pt idx="51">
                  <c:v>-1.1052722486028834</c:v>
                </c:pt>
                <c:pt idx="52">
                  <c:v>5.2804774611668357</c:v>
                </c:pt>
                <c:pt idx="53">
                  <c:v>5.4872159078028986</c:v>
                </c:pt>
                <c:pt idx="54">
                  <c:v>0.67953100911802267</c:v>
                </c:pt>
                <c:pt idx="55">
                  <c:v>7.2123686687446771</c:v>
                </c:pt>
                <c:pt idx="56">
                  <c:v>-1.8796110242887494</c:v>
                </c:pt>
                <c:pt idx="57">
                  <c:v>-0.3070839761049875</c:v>
                </c:pt>
                <c:pt idx="58">
                  <c:v>6.7466826475917436</c:v>
                </c:pt>
                <c:pt idx="59">
                  <c:v>1.3514363116350481</c:v>
                </c:pt>
                <c:pt idx="60">
                  <c:v>-1.4758038122942594</c:v>
                </c:pt>
                <c:pt idx="61">
                  <c:v>4.7460823057242472</c:v>
                </c:pt>
                <c:pt idx="62">
                  <c:v>-2.7081116047493161</c:v>
                </c:pt>
                <c:pt idx="63">
                  <c:v>2.0853934784011727</c:v>
                </c:pt>
                <c:pt idx="64">
                  <c:v>4.7353528901034139</c:v>
                </c:pt>
                <c:pt idx="65">
                  <c:v>-1.0126217390060628</c:v>
                </c:pt>
                <c:pt idx="66">
                  <c:v>0.97000227723217414</c:v>
                </c:pt>
                <c:pt idx="67">
                  <c:v>-0.25444756144734804</c:v>
                </c:pt>
                <c:pt idx="68">
                  <c:v>0.58220801207341921</c:v>
                </c:pt>
                <c:pt idx="69">
                  <c:v>4.9614628049936265</c:v>
                </c:pt>
                <c:pt idx="70">
                  <c:v>1.802861340658076</c:v>
                </c:pt>
                <c:pt idx="71">
                  <c:v>0.14788333132673337</c:v>
                </c:pt>
                <c:pt idx="72">
                  <c:v>0.49342448726736698</c:v>
                </c:pt>
                <c:pt idx="73">
                  <c:v>-2.1838348211604526</c:v>
                </c:pt>
                <c:pt idx="74">
                  <c:v>-0.17691261753410714</c:v>
                </c:pt>
                <c:pt idx="75">
                  <c:v>0.86403722755426138</c:v>
                </c:pt>
                <c:pt idx="76">
                  <c:v>-1.4398511610357456</c:v>
                </c:pt>
                <c:pt idx="77">
                  <c:v>1.4392412786934212</c:v>
                </c:pt>
                <c:pt idx="78">
                  <c:v>-1.9892914074660117</c:v>
                </c:pt>
                <c:pt idx="79">
                  <c:v>-1.5468438393579902</c:v>
                </c:pt>
                <c:pt idx="80">
                  <c:v>1.1356071217895902</c:v>
                </c:pt>
                <c:pt idx="81">
                  <c:v>-6.1318799249658262</c:v>
                </c:pt>
                <c:pt idx="82">
                  <c:v>0.68789742626591277</c:v>
                </c:pt>
                <c:pt idx="83">
                  <c:v>3.3159002452537472</c:v>
                </c:pt>
                <c:pt idx="84">
                  <c:v>4.5183337184225927</c:v>
                </c:pt>
                <c:pt idx="85">
                  <c:v>-1.0166724807871113</c:v>
                </c:pt>
                <c:pt idx="86">
                  <c:v>1.3403607858328925</c:v>
                </c:pt>
                <c:pt idx="87">
                  <c:v>3.7051003549370147</c:v>
                </c:pt>
                <c:pt idx="88">
                  <c:v>1.6699211006366568</c:v>
                </c:pt>
                <c:pt idx="89">
                  <c:v>4.4478833313267323</c:v>
                </c:pt>
                <c:pt idx="90">
                  <c:v>-2.2167643592822515</c:v>
                </c:pt>
                <c:pt idx="91">
                  <c:v>-1.0921414655120687</c:v>
                </c:pt>
                <c:pt idx="92">
                  <c:v>2.0186798286039078</c:v>
                </c:pt>
                <c:pt idx="93">
                  <c:v>3.2404633662276545</c:v>
                </c:pt>
                <c:pt idx="94">
                  <c:v>-0.63802873163401941</c:v>
                </c:pt>
                <c:pt idx="95">
                  <c:v>2.104673068160178</c:v>
                </c:pt>
                <c:pt idx="96">
                  <c:v>-4.7258336986923943</c:v>
                </c:pt>
                <c:pt idx="97">
                  <c:v>-0.32211836519304526</c:v>
                </c:pt>
                <c:pt idx="98">
                  <c:v>4.5960417174264876</c:v>
                </c:pt>
                <c:pt idx="99">
                  <c:v>3.740452664328032</c:v>
                </c:pt>
                <c:pt idx="100">
                  <c:v>-5.9047423814312872</c:v>
                </c:pt>
                <c:pt idx="101">
                  <c:v>2.6775462265252621</c:v>
                </c:pt>
                <c:pt idx="102">
                  <c:v>-5.5523601984598194</c:v>
                </c:pt>
                <c:pt idx="103">
                  <c:v>-1.2647282864921063</c:v>
                </c:pt>
                <c:pt idx="104">
                  <c:v>2.3441786997270064</c:v>
                </c:pt>
                <c:pt idx="105">
                  <c:v>5.6121037351588789</c:v>
                </c:pt>
                <c:pt idx="106">
                  <c:v>-1.021009559953197</c:v>
                </c:pt>
                <c:pt idx="107">
                  <c:v>-2.6299058442726864</c:v>
                </c:pt>
                <c:pt idx="108">
                  <c:v>-2.3553235388002633</c:v>
                </c:pt>
                <c:pt idx="109">
                  <c:v>0.62654848427906629</c:v>
                </c:pt>
                <c:pt idx="110">
                  <c:v>-4.3663669589035532</c:v>
                </c:pt>
                <c:pt idx="111">
                  <c:v>3.2778004582114377</c:v>
                </c:pt>
                <c:pt idx="112">
                  <c:v>-1.2847812732092638</c:v>
                </c:pt>
                <c:pt idx="113">
                  <c:v>-1.0962733838886312</c:v>
                </c:pt>
                <c:pt idx="114">
                  <c:v>3.8500411690101544</c:v>
                </c:pt>
                <c:pt idx="115">
                  <c:v>1.997404754352516</c:v>
                </c:pt>
                <c:pt idx="116">
                  <c:v>-1.4496938974040461</c:v>
                </c:pt>
                <c:pt idx="117">
                  <c:v>-1.2643928782104101</c:v>
                </c:pt>
                <c:pt idx="118">
                  <c:v>2.8920507484417204</c:v>
                </c:pt>
                <c:pt idx="119">
                  <c:v>-1.354804373528288</c:v>
                </c:pt>
                <c:pt idx="120">
                  <c:v>1.7504791576866126</c:v>
                </c:pt>
                <c:pt idx="121">
                  <c:v>-0.92628238926847573</c:v>
                </c:pt>
                <c:pt idx="122">
                  <c:v>-6.0808010061241138</c:v>
                </c:pt>
                <c:pt idx="123">
                  <c:v>2.3156460135675694</c:v>
                </c:pt>
                <c:pt idx="124">
                  <c:v>1.7577474714942731</c:v>
                </c:pt>
                <c:pt idx="125">
                  <c:v>-0.57778859488702317</c:v>
                </c:pt>
                <c:pt idx="126">
                  <c:v>-0.8033793445052595</c:v>
                </c:pt>
                <c:pt idx="127">
                  <c:v>-2.0450321118558836</c:v>
                </c:pt>
                <c:pt idx="128">
                  <c:v>7.1950845634780585</c:v>
                </c:pt>
                <c:pt idx="129">
                  <c:v>-0.16577731893567993</c:v>
                </c:pt>
                <c:pt idx="130">
                  <c:v>-5.4658691974308198</c:v>
                </c:pt>
                <c:pt idx="131">
                  <c:v>-6.9393105919645244</c:v>
                </c:pt>
                <c:pt idx="132">
                  <c:v>-1.7319013287650709</c:v>
                </c:pt>
                <c:pt idx="133">
                  <c:v>2.1188528836945686</c:v>
                </c:pt>
                <c:pt idx="134">
                  <c:v>2.0133044188938687</c:v>
                </c:pt>
                <c:pt idx="135">
                  <c:v>2.2713867179574425</c:v>
                </c:pt>
                <c:pt idx="136">
                  <c:v>1.2504684557869901</c:v>
                </c:pt>
                <c:pt idx="137">
                  <c:v>0.75662796435480928</c:v>
                </c:pt>
                <c:pt idx="138">
                  <c:v>0.52333091225244743</c:v>
                </c:pt>
                <c:pt idx="139">
                  <c:v>4.877881634806954</c:v>
                </c:pt>
                <c:pt idx="140">
                  <c:v>0.37821704308865023</c:v>
                </c:pt>
                <c:pt idx="141">
                  <c:v>2.9595591989963808</c:v>
                </c:pt>
                <c:pt idx="142">
                  <c:v>2.5855772353914546</c:v>
                </c:pt>
                <c:pt idx="143">
                  <c:v>-1.604926138421563</c:v>
                </c:pt>
                <c:pt idx="144">
                  <c:v>-0.20561835878419821</c:v>
                </c:pt>
                <c:pt idx="145">
                  <c:v>-3.4019842018803672</c:v>
                </c:pt>
                <c:pt idx="146">
                  <c:v>-5.2461409170957332</c:v>
                </c:pt>
                <c:pt idx="147">
                  <c:v>6.8064954975619045</c:v>
                </c:pt>
                <c:pt idx="148">
                  <c:v>2.0610141144175476</c:v>
                </c:pt>
                <c:pt idx="149">
                  <c:v>0.94251862351631388</c:v>
                </c:pt>
                <c:pt idx="150">
                  <c:v>-4.2761285186763303</c:v>
                </c:pt>
                <c:pt idx="151">
                  <c:v>-1.1845270415230882</c:v>
                </c:pt>
                <c:pt idx="152">
                  <c:v>0.1741663013076078</c:v>
                </c:pt>
                <c:pt idx="153">
                  <c:v>3.8243799446960214</c:v>
                </c:pt>
                <c:pt idx="154">
                  <c:v>-0.35997462244880296</c:v>
                </c:pt>
                <c:pt idx="155">
                  <c:v>-4.0274937749030864</c:v>
                </c:pt>
                <c:pt idx="156">
                  <c:v>3.8037159142117467</c:v>
                </c:pt>
                <c:pt idx="157">
                  <c:v>-4.0535822859940556</c:v>
                </c:pt>
                <c:pt idx="158">
                  <c:v>-0.28877224219403619</c:v>
                </c:pt>
                <c:pt idx="159">
                  <c:v>-0.39316909415639678</c:v>
                </c:pt>
                <c:pt idx="160">
                  <c:v>-0.83266402382360027</c:v>
                </c:pt>
                <c:pt idx="161">
                  <c:v>2.193516365762509</c:v>
                </c:pt>
                <c:pt idx="162">
                  <c:v>-1.088496606708615</c:v>
                </c:pt>
                <c:pt idx="163">
                  <c:v>3.1951657400735769</c:v>
                </c:pt>
                <c:pt idx="164">
                  <c:v>-0.70388780787761185</c:v>
                </c:pt>
                <c:pt idx="165">
                  <c:v>-6.2799357306708199</c:v>
                </c:pt>
                <c:pt idx="166">
                  <c:v>0.11650058712124256</c:v>
                </c:pt>
                <c:pt idx="167">
                  <c:v>-4.6631707906761797</c:v>
                </c:pt>
                <c:pt idx="168">
                  <c:v>-0.17198589840014478</c:v>
                </c:pt>
                <c:pt idx="169">
                  <c:v>-5.5472604242352048</c:v>
                </c:pt>
                <c:pt idx="170">
                  <c:v>-1.0094255707786903</c:v>
                </c:pt>
                <c:pt idx="171">
                  <c:v>-0.35237090035944441</c:v>
                </c:pt>
                <c:pt idx="172">
                  <c:v>-0.36431170161489135</c:v>
                </c:pt>
                <c:pt idx="173">
                  <c:v>-3.337763798048222</c:v>
                </c:pt>
                <c:pt idx="174">
                  <c:v>-6.1047423814312864</c:v>
                </c:pt>
                <c:pt idx="175">
                  <c:v>6.8045107149691439</c:v>
                </c:pt>
                <c:pt idx="176">
                  <c:v>1.3593049673102051</c:v>
                </c:pt>
                <c:pt idx="177">
                  <c:v>-3.4233297508276568</c:v>
                </c:pt>
                <c:pt idx="178">
                  <c:v>-8.3859819569442529</c:v>
                </c:pt>
                <c:pt idx="179">
                  <c:v>-2.3046612048357655</c:v>
                </c:pt>
                <c:pt idx="180">
                  <c:v>-3.9768314409385894</c:v>
                </c:pt>
                <c:pt idx="181">
                  <c:v>-5.2193494837425085</c:v>
                </c:pt>
                <c:pt idx="182">
                  <c:v>-1.0041527414634128</c:v>
                </c:pt>
                <c:pt idx="183">
                  <c:v>5.4958686623358304</c:v>
                </c:pt>
                <c:pt idx="184">
                  <c:v>-1.4973928910280989</c:v>
                </c:pt>
                <c:pt idx="185">
                  <c:v>5.8223951621032626</c:v>
                </c:pt>
                <c:pt idx="186">
                  <c:v>-3.3639548895339502</c:v>
                </c:pt>
                <c:pt idx="187">
                  <c:v>1.1831544641222358</c:v>
                </c:pt>
                <c:pt idx="188">
                  <c:v>-4.728072712971338</c:v>
                </c:pt>
                <c:pt idx="189">
                  <c:v>-1.2215287252251734</c:v>
                </c:pt>
                <c:pt idx="190">
                  <c:v>1.8897091537680168</c:v>
                </c:pt>
                <c:pt idx="191">
                  <c:v>-0.72160990182069185</c:v>
                </c:pt>
                <c:pt idx="192">
                  <c:v>-1.9502237645756439</c:v>
                </c:pt>
                <c:pt idx="193">
                  <c:v>4.6382948266446107</c:v>
                </c:pt>
                <c:pt idx="194">
                  <c:v>3.1511713780492485</c:v>
                </c:pt>
                <c:pt idx="195">
                  <c:v>-1.2484932136690574</c:v>
                </c:pt>
                <c:pt idx="196">
                  <c:v>-1.8105450779181602</c:v>
                </c:pt>
                <c:pt idx="197">
                  <c:v>-2.6465789057721896</c:v>
                </c:pt>
                <c:pt idx="198">
                  <c:v>4.9860152240679128</c:v>
                </c:pt>
                <c:pt idx="199">
                  <c:v>-4.6658477936315759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A2B-4CD4-BF7F-F546DDCEA0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79038727"/>
        <c:axId val="1943573511"/>
      </c:scatterChart>
      <c:valAx>
        <c:axId val="19790387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TV ads (hundreds of pounds)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3573511"/>
        <c:crosses val="autoZero"/>
        <c:crossBetween val="midCat"/>
      </c:valAx>
      <c:valAx>
        <c:axId val="1943573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Value of residuals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903872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2C49F1-8B9C-4A91-B30A-AC69FE85F627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A5B9DE4-0E59-4E85-9EE3-2FD185E4B489}">
      <dgm:prSet/>
      <dgm:spPr/>
      <dgm:t>
        <a:bodyPr/>
        <a:lstStyle/>
        <a:p>
          <a:r>
            <a:rPr lang="en-GB" dirty="0"/>
            <a:t>Project Title - Slide 1 </a:t>
          </a:r>
          <a:endParaRPr lang="en-US" dirty="0"/>
        </a:p>
      </dgm:t>
    </dgm:pt>
    <dgm:pt modelId="{8FBA3336-27C5-45C5-872F-80D996E69DF9}" type="parTrans" cxnId="{C9C49E7C-8914-4B37-8455-C14E88AD6C4F}">
      <dgm:prSet/>
      <dgm:spPr/>
      <dgm:t>
        <a:bodyPr/>
        <a:lstStyle/>
        <a:p>
          <a:endParaRPr lang="en-US"/>
        </a:p>
      </dgm:t>
    </dgm:pt>
    <dgm:pt modelId="{4FA8238B-A1CE-4522-8353-FA5EF4724499}" type="sibTrans" cxnId="{C9C49E7C-8914-4B37-8455-C14E88AD6C4F}">
      <dgm:prSet/>
      <dgm:spPr/>
      <dgm:t>
        <a:bodyPr/>
        <a:lstStyle/>
        <a:p>
          <a:endParaRPr lang="en-US"/>
        </a:p>
      </dgm:t>
    </dgm:pt>
    <dgm:pt modelId="{3B353D6F-34D5-4125-9BA0-FBDF565D152A}">
      <dgm:prSet/>
      <dgm:spPr/>
      <dgm:t>
        <a:bodyPr/>
        <a:lstStyle/>
        <a:p>
          <a:r>
            <a:rPr lang="en-GB" dirty="0"/>
            <a:t>Table of Contents – Slide 2</a:t>
          </a:r>
          <a:endParaRPr lang="en-US" dirty="0"/>
        </a:p>
      </dgm:t>
    </dgm:pt>
    <dgm:pt modelId="{4F475388-52D4-4E3C-BAA2-1952F2B02A10}" type="parTrans" cxnId="{4230029F-EA04-4380-8B4A-E29D780BB2B6}">
      <dgm:prSet/>
      <dgm:spPr/>
      <dgm:t>
        <a:bodyPr/>
        <a:lstStyle/>
        <a:p>
          <a:endParaRPr lang="en-US"/>
        </a:p>
      </dgm:t>
    </dgm:pt>
    <dgm:pt modelId="{C8E87B5D-7723-4834-9AA7-DCE5EF8FB761}" type="sibTrans" cxnId="{4230029F-EA04-4380-8B4A-E29D780BB2B6}">
      <dgm:prSet/>
      <dgm:spPr/>
      <dgm:t>
        <a:bodyPr/>
        <a:lstStyle/>
        <a:p>
          <a:endParaRPr lang="en-US"/>
        </a:p>
      </dgm:t>
    </dgm:pt>
    <dgm:pt modelId="{E5D1D727-C3E6-4EA6-97DD-D515FD77BB0E}">
      <dgm:prSet/>
      <dgm:spPr/>
      <dgm:t>
        <a:bodyPr/>
        <a:lstStyle/>
        <a:p>
          <a:r>
            <a:rPr lang="en-GB" dirty="0"/>
            <a:t>Project Tasks – Slide 3</a:t>
          </a:r>
          <a:endParaRPr lang="en-US" dirty="0"/>
        </a:p>
      </dgm:t>
    </dgm:pt>
    <dgm:pt modelId="{C875204A-3CFD-48C0-BBF6-0BE4805E24AC}" type="parTrans" cxnId="{5D684240-95AE-4E44-BC48-7762FBD71B9D}">
      <dgm:prSet/>
      <dgm:spPr/>
      <dgm:t>
        <a:bodyPr/>
        <a:lstStyle/>
        <a:p>
          <a:endParaRPr lang="en-US"/>
        </a:p>
      </dgm:t>
    </dgm:pt>
    <dgm:pt modelId="{CC4B2A41-6D4C-4139-BB43-071954124C57}" type="sibTrans" cxnId="{5D684240-95AE-4E44-BC48-7762FBD71B9D}">
      <dgm:prSet/>
      <dgm:spPr/>
      <dgm:t>
        <a:bodyPr/>
        <a:lstStyle/>
        <a:p>
          <a:endParaRPr lang="en-US"/>
        </a:p>
      </dgm:t>
    </dgm:pt>
    <dgm:pt modelId="{901D5DFA-9F0A-4D95-A9C6-B052BBCD30A7}">
      <dgm:prSet/>
      <dgm:spPr/>
      <dgm:t>
        <a:bodyPr/>
        <a:lstStyle/>
        <a:p>
          <a:r>
            <a:rPr lang="en-GB" dirty="0"/>
            <a:t>How we did it – Slide 4 </a:t>
          </a:r>
          <a:endParaRPr lang="en-US" dirty="0"/>
        </a:p>
      </dgm:t>
    </dgm:pt>
    <dgm:pt modelId="{FAF3E399-D3E5-46A1-BDD5-3EBE3A0068F3}" type="parTrans" cxnId="{6607F632-A1A2-4263-87E5-0CC50F65BFB5}">
      <dgm:prSet/>
      <dgm:spPr/>
      <dgm:t>
        <a:bodyPr/>
        <a:lstStyle/>
        <a:p>
          <a:endParaRPr lang="en-US"/>
        </a:p>
      </dgm:t>
    </dgm:pt>
    <dgm:pt modelId="{2A477F16-C87F-4ED7-8492-CE4C536A5EDE}" type="sibTrans" cxnId="{6607F632-A1A2-4263-87E5-0CC50F65BFB5}">
      <dgm:prSet/>
      <dgm:spPr/>
      <dgm:t>
        <a:bodyPr/>
        <a:lstStyle/>
        <a:p>
          <a:endParaRPr lang="en-US"/>
        </a:p>
      </dgm:t>
    </dgm:pt>
    <dgm:pt modelId="{49F85A2C-6D1B-4851-B4C7-C0780E620F3D}">
      <dgm:prSet/>
      <dgm:spPr/>
      <dgm:t>
        <a:bodyPr/>
        <a:lstStyle/>
        <a:p>
          <a:r>
            <a:rPr lang="en-GB" dirty="0"/>
            <a:t>Scatterplot – Slide 5</a:t>
          </a:r>
          <a:endParaRPr lang="en-US" dirty="0"/>
        </a:p>
      </dgm:t>
    </dgm:pt>
    <dgm:pt modelId="{FF3CB174-72EB-4B2A-A7A2-CC23B9FFE32C}" type="parTrans" cxnId="{B0ABAB77-5E4A-4369-B38B-917FC5AABB8F}">
      <dgm:prSet/>
      <dgm:spPr/>
      <dgm:t>
        <a:bodyPr/>
        <a:lstStyle/>
        <a:p>
          <a:endParaRPr lang="en-US"/>
        </a:p>
      </dgm:t>
    </dgm:pt>
    <dgm:pt modelId="{BA8B746D-35CB-4D0D-B5E2-493A6E9881E2}" type="sibTrans" cxnId="{B0ABAB77-5E4A-4369-B38B-917FC5AABB8F}">
      <dgm:prSet/>
      <dgm:spPr/>
      <dgm:t>
        <a:bodyPr/>
        <a:lstStyle/>
        <a:p>
          <a:endParaRPr lang="en-US"/>
        </a:p>
      </dgm:t>
    </dgm:pt>
    <dgm:pt modelId="{842D99FF-8D9B-49F1-B23B-E7370BB15547}">
      <dgm:prSet/>
      <dgm:spPr/>
      <dgm:t>
        <a:bodyPr/>
        <a:lstStyle/>
        <a:p>
          <a:r>
            <a:rPr lang="en-GB" dirty="0"/>
            <a:t>Regression Analysis – Slide 6</a:t>
          </a:r>
          <a:endParaRPr lang="en-US" dirty="0"/>
        </a:p>
      </dgm:t>
    </dgm:pt>
    <dgm:pt modelId="{19B31C4E-4AD4-4FD4-A43A-4686DA9BBF67}" type="parTrans" cxnId="{D9CA1AD8-08F5-4699-924C-FA0190BDABA4}">
      <dgm:prSet/>
      <dgm:spPr/>
      <dgm:t>
        <a:bodyPr/>
        <a:lstStyle/>
        <a:p>
          <a:endParaRPr lang="en-US"/>
        </a:p>
      </dgm:t>
    </dgm:pt>
    <dgm:pt modelId="{AC6BA9BB-B728-4799-936E-80F1890A3211}" type="sibTrans" cxnId="{D9CA1AD8-08F5-4699-924C-FA0190BDABA4}">
      <dgm:prSet/>
      <dgm:spPr/>
      <dgm:t>
        <a:bodyPr/>
        <a:lstStyle/>
        <a:p>
          <a:endParaRPr lang="en-US"/>
        </a:p>
      </dgm:t>
    </dgm:pt>
    <dgm:pt modelId="{A09FC57D-CFE3-4A42-9D6E-A6554C6D8DBD}">
      <dgm:prSet/>
      <dgm:spPr/>
      <dgm:t>
        <a:bodyPr/>
        <a:lstStyle/>
        <a:p>
          <a:r>
            <a:rPr lang="en-GB" dirty="0"/>
            <a:t>Residual Analysis – Slide 7</a:t>
          </a:r>
          <a:endParaRPr lang="en-US" dirty="0"/>
        </a:p>
      </dgm:t>
    </dgm:pt>
    <dgm:pt modelId="{5BD036B4-F717-462E-8BB6-2950EF3ECE20}" type="parTrans" cxnId="{AE6ACF8D-B832-41EF-8E74-B5B8969CD6D0}">
      <dgm:prSet/>
      <dgm:spPr/>
      <dgm:t>
        <a:bodyPr/>
        <a:lstStyle/>
        <a:p>
          <a:endParaRPr lang="en-US"/>
        </a:p>
      </dgm:t>
    </dgm:pt>
    <dgm:pt modelId="{F91DF3FD-480F-42A7-B99F-EC1BBB67969E}" type="sibTrans" cxnId="{AE6ACF8D-B832-41EF-8E74-B5B8969CD6D0}">
      <dgm:prSet/>
      <dgm:spPr/>
      <dgm:t>
        <a:bodyPr/>
        <a:lstStyle/>
        <a:p>
          <a:endParaRPr lang="en-US"/>
        </a:p>
      </dgm:t>
    </dgm:pt>
    <dgm:pt modelId="{FA675A77-10DD-4626-ABF0-5A9810C85655}">
      <dgm:prSet/>
      <dgm:spPr/>
      <dgm:t>
        <a:bodyPr/>
        <a:lstStyle/>
        <a:p>
          <a:r>
            <a:rPr lang="en-GB" dirty="0"/>
            <a:t>Confidence Intervals – Slide 8</a:t>
          </a:r>
          <a:endParaRPr lang="en-US" dirty="0"/>
        </a:p>
      </dgm:t>
    </dgm:pt>
    <dgm:pt modelId="{2BDCA598-B937-483B-B7BE-A13B2E6DCFA4}" type="parTrans" cxnId="{377C2A48-36A1-4DB0-B1CF-2D4BAD7D88A4}">
      <dgm:prSet/>
      <dgm:spPr/>
      <dgm:t>
        <a:bodyPr/>
        <a:lstStyle/>
        <a:p>
          <a:endParaRPr lang="en-US"/>
        </a:p>
      </dgm:t>
    </dgm:pt>
    <dgm:pt modelId="{F500EED9-AAAB-4288-974A-3E604181FA86}" type="sibTrans" cxnId="{377C2A48-36A1-4DB0-B1CF-2D4BAD7D88A4}">
      <dgm:prSet/>
      <dgm:spPr/>
      <dgm:t>
        <a:bodyPr/>
        <a:lstStyle/>
        <a:p>
          <a:endParaRPr lang="en-US"/>
        </a:p>
      </dgm:t>
    </dgm:pt>
    <dgm:pt modelId="{E11FB5B3-89E0-44EA-8B1C-276BED1BDCB8}">
      <dgm:prSet/>
      <dgm:spPr/>
      <dgm:t>
        <a:bodyPr/>
        <a:lstStyle/>
        <a:p>
          <a:r>
            <a:rPr lang="en-GB" dirty="0"/>
            <a:t>Hypothesis Test – Slide 9</a:t>
          </a:r>
          <a:endParaRPr lang="en-US" dirty="0"/>
        </a:p>
      </dgm:t>
    </dgm:pt>
    <dgm:pt modelId="{384B5A88-DF19-47CA-A89A-10DC3492E046}" type="parTrans" cxnId="{27243823-4EC9-4CB1-9316-07E2B986DD21}">
      <dgm:prSet/>
      <dgm:spPr/>
      <dgm:t>
        <a:bodyPr/>
        <a:lstStyle/>
        <a:p>
          <a:endParaRPr lang="en-US"/>
        </a:p>
      </dgm:t>
    </dgm:pt>
    <dgm:pt modelId="{BECA2F81-4481-4C21-A021-DE29E04EE84E}" type="sibTrans" cxnId="{27243823-4EC9-4CB1-9316-07E2B986DD21}">
      <dgm:prSet/>
      <dgm:spPr/>
      <dgm:t>
        <a:bodyPr/>
        <a:lstStyle/>
        <a:p>
          <a:endParaRPr lang="en-US"/>
        </a:p>
      </dgm:t>
    </dgm:pt>
    <dgm:pt modelId="{C1D116F5-B273-4747-A7E6-F6CA9C51FAD1}">
      <dgm:prSet/>
      <dgm:spPr/>
      <dgm:t>
        <a:bodyPr/>
        <a:lstStyle/>
        <a:p>
          <a:r>
            <a:rPr lang="en-GB" dirty="0"/>
            <a:t>Hypothesis Test Extended – Slide 10</a:t>
          </a:r>
          <a:endParaRPr lang="en-US" dirty="0"/>
        </a:p>
      </dgm:t>
    </dgm:pt>
    <dgm:pt modelId="{BCE16977-6196-4FE4-BDEB-381DB9901911}" type="parTrans" cxnId="{4626520F-6B5B-4770-BE58-5888870980D2}">
      <dgm:prSet/>
      <dgm:spPr/>
      <dgm:t>
        <a:bodyPr/>
        <a:lstStyle/>
        <a:p>
          <a:endParaRPr lang="en-US"/>
        </a:p>
      </dgm:t>
    </dgm:pt>
    <dgm:pt modelId="{FA86A52D-A8FB-4670-A18D-A21ACAD78215}" type="sibTrans" cxnId="{4626520F-6B5B-4770-BE58-5888870980D2}">
      <dgm:prSet/>
      <dgm:spPr/>
      <dgm:t>
        <a:bodyPr/>
        <a:lstStyle/>
        <a:p>
          <a:endParaRPr lang="en-US"/>
        </a:p>
      </dgm:t>
    </dgm:pt>
    <dgm:pt modelId="{C8CD21D4-2E56-4CB8-B5AE-DA8EDA1CBD8A}">
      <dgm:prSet/>
      <dgm:spPr/>
      <dgm:t>
        <a:bodyPr/>
        <a:lstStyle/>
        <a:p>
          <a:r>
            <a:rPr lang="en-GB" dirty="0"/>
            <a:t>Conclusions – Slide 11</a:t>
          </a:r>
          <a:endParaRPr lang="en-US" dirty="0"/>
        </a:p>
      </dgm:t>
    </dgm:pt>
    <dgm:pt modelId="{53142EB8-B3AD-4F18-8BB7-2B14414572DC}" type="parTrans" cxnId="{3DAC40D5-78CA-4D4A-969F-5320C06B3D50}">
      <dgm:prSet/>
      <dgm:spPr/>
      <dgm:t>
        <a:bodyPr/>
        <a:lstStyle/>
        <a:p>
          <a:endParaRPr lang="en-US"/>
        </a:p>
      </dgm:t>
    </dgm:pt>
    <dgm:pt modelId="{C340F4BC-507D-470E-BD46-C5AFC940EE18}" type="sibTrans" cxnId="{3DAC40D5-78CA-4D4A-969F-5320C06B3D50}">
      <dgm:prSet/>
      <dgm:spPr/>
      <dgm:t>
        <a:bodyPr/>
        <a:lstStyle/>
        <a:p>
          <a:endParaRPr lang="en-US"/>
        </a:p>
      </dgm:t>
    </dgm:pt>
    <dgm:pt modelId="{7C41445F-8712-4251-AD49-8B52BB7741B9}">
      <dgm:prSet/>
      <dgm:spPr/>
      <dgm:t>
        <a:bodyPr/>
        <a:lstStyle/>
        <a:p>
          <a:r>
            <a:rPr lang="en-GB" dirty="0"/>
            <a:t>References – Slide 12</a:t>
          </a:r>
          <a:endParaRPr lang="en-US" dirty="0"/>
        </a:p>
      </dgm:t>
    </dgm:pt>
    <dgm:pt modelId="{FD7AF65C-04E3-4204-9FEF-A95B20B24EA2}" type="parTrans" cxnId="{D21AA471-3E16-4B9B-A2C3-2889837E0958}">
      <dgm:prSet/>
      <dgm:spPr/>
      <dgm:t>
        <a:bodyPr/>
        <a:lstStyle/>
        <a:p>
          <a:endParaRPr lang="en-US"/>
        </a:p>
      </dgm:t>
    </dgm:pt>
    <dgm:pt modelId="{9053A79D-2531-42DC-BFD7-6E89C2504B52}" type="sibTrans" cxnId="{D21AA471-3E16-4B9B-A2C3-2889837E0958}">
      <dgm:prSet/>
      <dgm:spPr/>
      <dgm:t>
        <a:bodyPr/>
        <a:lstStyle/>
        <a:p>
          <a:endParaRPr lang="en-US"/>
        </a:p>
      </dgm:t>
    </dgm:pt>
    <dgm:pt modelId="{CBBD16CF-4F79-4E25-96F0-5EB1C716F5FB}" type="pres">
      <dgm:prSet presAssocID="{E42C49F1-8B9C-4A91-B30A-AC69FE85F627}" presName="vert0" presStyleCnt="0">
        <dgm:presLayoutVars>
          <dgm:dir/>
          <dgm:animOne val="branch"/>
          <dgm:animLvl val="lvl"/>
        </dgm:presLayoutVars>
      </dgm:prSet>
      <dgm:spPr/>
    </dgm:pt>
    <dgm:pt modelId="{785FA855-1E25-40A2-A8D2-93EDEF0B78DA}" type="pres">
      <dgm:prSet presAssocID="{2A5B9DE4-0E59-4E85-9EE3-2FD185E4B489}" presName="thickLine" presStyleLbl="alignNode1" presStyleIdx="0" presStyleCnt="12"/>
      <dgm:spPr/>
    </dgm:pt>
    <dgm:pt modelId="{B4309259-632C-4306-8B99-08341C87AF5C}" type="pres">
      <dgm:prSet presAssocID="{2A5B9DE4-0E59-4E85-9EE3-2FD185E4B489}" presName="horz1" presStyleCnt="0"/>
      <dgm:spPr/>
    </dgm:pt>
    <dgm:pt modelId="{D79DBE78-DBD6-4DC1-B845-45F4D857C531}" type="pres">
      <dgm:prSet presAssocID="{2A5B9DE4-0E59-4E85-9EE3-2FD185E4B489}" presName="tx1" presStyleLbl="revTx" presStyleIdx="0" presStyleCnt="12"/>
      <dgm:spPr/>
    </dgm:pt>
    <dgm:pt modelId="{CF809E93-2BF2-4977-8A30-31129018E145}" type="pres">
      <dgm:prSet presAssocID="{2A5B9DE4-0E59-4E85-9EE3-2FD185E4B489}" presName="vert1" presStyleCnt="0"/>
      <dgm:spPr/>
    </dgm:pt>
    <dgm:pt modelId="{DB719915-A4F3-4DFE-872B-CD03030A78F8}" type="pres">
      <dgm:prSet presAssocID="{3B353D6F-34D5-4125-9BA0-FBDF565D152A}" presName="thickLine" presStyleLbl="alignNode1" presStyleIdx="1" presStyleCnt="12"/>
      <dgm:spPr/>
    </dgm:pt>
    <dgm:pt modelId="{3E51BA48-47AE-4F47-908E-B93ABB368DD8}" type="pres">
      <dgm:prSet presAssocID="{3B353D6F-34D5-4125-9BA0-FBDF565D152A}" presName="horz1" presStyleCnt="0"/>
      <dgm:spPr/>
    </dgm:pt>
    <dgm:pt modelId="{A95F6635-BD4B-4903-98CE-62BD7D91B1EF}" type="pres">
      <dgm:prSet presAssocID="{3B353D6F-34D5-4125-9BA0-FBDF565D152A}" presName="tx1" presStyleLbl="revTx" presStyleIdx="1" presStyleCnt="12"/>
      <dgm:spPr/>
    </dgm:pt>
    <dgm:pt modelId="{333A8B86-B3FB-4BFB-87E2-C6D45E936992}" type="pres">
      <dgm:prSet presAssocID="{3B353D6F-34D5-4125-9BA0-FBDF565D152A}" presName="vert1" presStyleCnt="0"/>
      <dgm:spPr/>
    </dgm:pt>
    <dgm:pt modelId="{2ABE5C8C-21D6-4EDA-ADF1-044F39ED57BF}" type="pres">
      <dgm:prSet presAssocID="{E5D1D727-C3E6-4EA6-97DD-D515FD77BB0E}" presName="thickLine" presStyleLbl="alignNode1" presStyleIdx="2" presStyleCnt="12"/>
      <dgm:spPr/>
    </dgm:pt>
    <dgm:pt modelId="{330EB4DB-4B32-4CB1-A5B2-0C001565F15E}" type="pres">
      <dgm:prSet presAssocID="{E5D1D727-C3E6-4EA6-97DD-D515FD77BB0E}" presName="horz1" presStyleCnt="0"/>
      <dgm:spPr/>
    </dgm:pt>
    <dgm:pt modelId="{432F6123-08ED-4FBC-8E95-29A9F9896E50}" type="pres">
      <dgm:prSet presAssocID="{E5D1D727-C3E6-4EA6-97DD-D515FD77BB0E}" presName="tx1" presStyleLbl="revTx" presStyleIdx="2" presStyleCnt="12"/>
      <dgm:spPr/>
    </dgm:pt>
    <dgm:pt modelId="{9387F1BE-DD77-488D-A5D8-42A862620236}" type="pres">
      <dgm:prSet presAssocID="{E5D1D727-C3E6-4EA6-97DD-D515FD77BB0E}" presName="vert1" presStyleCnt="0"/>
      <dgm:spPr/>
    </dgm:pt>
    <dgm:pt modelId="{BB659F53-9B00-42EC-B13D-175787668E6C}" type="pres">
      <dgm:prSet presAssocID="{901D5DFA-9F0A-4D95-A9C6-B052BBCD30A7}" presName="thickLine" presStyleLbl="alignNode1" presStyleIdx="3" presStyleCnt="12"/>
      <dgm:spPr/>
    </dgm:pt>
    <dgm:pt modelId="{48D379BE-1579-4268-9C75-43DC0A3DEB51}" type="pres">
      <dgm:prSet presAssocID="{901D5DFA-9F0A-4D95-A9C6-B052BBCD30A7}" presName="horz1" presStyleCnt="0"/>
      <dgm:spPr/>
    </dgm:pt>
    <dgm:pt modelId="{089EF7ED-B71E-4C3E-A1D0-80E10B0784A4}" type="pres">
      <dgm:prSet presAssocID="{901D5DFA-9F0A-4D95-A9C6-B052BBCD30A7}" presName="tx1" presStyleLbl="revTx" presStyleIdx="3" presStyleCnt="12"/>
      <dgm:spPr/>
    </dgm:pt>
    <dgm:pt modelId="{C72A2262-D20F-4DDD-80BD-0DEB9BE91829}" type="pres">
      <dgm:prSet presAssocID="{901D5DFA-9F0A-4D95-A9C6-B052BBCD30A7}" presName="vert1" presStyleCnt="0"/>
      <dgm:spPr/>
    </dgm:pt>
    <dgm:pt modelId="{03FC7DD2-3DB1-4C8F-972E-1067F08802D8}" type="pres">
      <dgm:prSet presAssocID="{49F85A2C-6D1B-4851-B4C7-C0780E620F3D}" presName="thickLine" presStyleLbl="alignNode1" presStyleIdx="4" presStyleCnt="12"/>
      <dgm:spPr/>
    </dgm:pt>
    <dgm:pt modelId="{AD6C830F-16CB-437B-ACC5-76C6055B26CA}" type="pres">
      <dgm:prSet presAssocID="{49F85A2C-6D1B-4851-B4C7-C0780E620F3D}" presName="horz1" presStyleCnt="0"/>
      <dgm:spPr/>
    </dgm:pt>
    <dgm:pt modelId="{02365B17-00F0-4E71-8119-D78E2B279EC2}" type="pres">
      <dgm:prSet presAssocID="{49F85A2C-6D1B-4851-B4C7-C0780E620F3D}" presName="tx1" presStyleLbl="revTx" presStyleIdx="4" presStyleCnt="12"/>
      <dgm:spPr/>
    </dgm:pt>
    <dgm:pt modelId="{722418C1-55AF-4F23-9885-C0B47720CAC2}" type="pres">
      <dgm:prSet presAssocID="{49F85A2C-6D1B-4851-B4C7-C0780E620F3D}" presName="vert1" presStyleCnt="0"/>
      <dgm:spPr/>
    </dgm:pt>
    <dgm:pt modelId="{01733A27-CEE4-46B8-B6BD-BCF07B5CAFD3}" type="pres">
      <dgm:prSet presAssocID="{842D99FF-8D9B-49F1-B23B-E7370BB15547}" presName="thickLine" presStyleLbl="alignNode1" presStyleIdx="5" presStyleCnt="12"/>
      <dgm:spPr/>
    </dgm:pt>
    <dgm:pt modelId="{274FA051-6293-4293-8D40-D4A1DD74012C}" type="pres">
      <dgm:prSet presAssocID="{842D99FF-8D9B-49F1-B23B-E7370BB15547}" presName="horz1" presStyleCnt="0"/>
      <dgm:spPr/>
    </dgm:pt>
    <dgm:pt modelId="{A4BCD3B3-B69B-4932-AEB7-308F8E8985AD}" type="pres">
      <dgm:prSet presAssocID="{842D99FF-8D9B-49F1-B23B-E7370BB15547}" presName="tx1" presStyleLbl="revTx" presStyleIdx="5" presStyleCnt="12"/>
      <dgm:spPr/>
    </dgm:pt>
    <dgm:pt modelId="{C9B45737-147F-4E27-8157-34B0DD1F7DE2}" type="pres">
      <dgm:prSet presAssocID="{842D99FF-8D9B-49F1-B23B-E7370BB15547}" presName="vert1" presStyleCnt="0"/>
      <dgm:spPr/>
    </dgm:pt>
    <dgm:pt modelId="{A54D6458-E386-4412-8512-C30263CF25FC}" type="pres">
      <dgm:prSet presAssocID="{A09FC57D-CFE3-4A42-9D6E-A6554C6D8DBD}" presName="thickLine" presStyleLbl="alignNode1" presStyleIdx="6" presStyleCnt="12"/>
      <dgm:spPr/>
    </dgm:pt>
    <dgm:pt modelId="{EE325035-2008-4DB4-AC1C-A52725021B63}" type="pres">
      <dgm:prSet presAssocID="{A09FC57D-CFE3-4A42-9D6E-A6554C6D8DBD}" presName="horz1" presStyleCnt="0"/>
      <dgm:spPr/>
    </dgm:pt>
    <dgm:pt modelId="{6FD64B48-8408-4578-994E-73F47CECA2E2}" type="pres">
      <dgm:prSet presAssocID="{A09FC57D-CFE3-4A42-9D6E-A6554C6D8DBD}" presName="tx1" presStyleLbl="revTx" presStyleIdx="6" presStyleCnt="12"/>
      <dgm:spPr/>
    </dgm:pt>
    <dgm:pt modelId="{D5EE6142-A68C-4FCC-BDCE-B69241EE1B3B}" type="pres">
      <dgm:prSet presAssocID="{A09FC57D-CFE3-4A42-9D6E-A6554C6D8DBD}" presName="vert1" presStyleCnt="0"/>
      <dgm:spPr/>
    </dgm:pt>
    <dgm:pt modelId="{864235B1-66D5-44B5-B1FA-4A5E96DC70DB}" type="pres">
      <dgm:prSet presAssocID="{FA675A77-10DD-4626-ABF0-5A9810C85655}" presName="thickLine" presStyleLbl="alignNode1" presStyleIdx="7" presStyleCnt="12"/>
      <dgm:spPr/>
    </dgm:pt>
    <dgm:pt modelId="{837633C2-F725-4DB0-A56E-09FDBC0A7F93}" type="pres">
      <dgm:prSet presAssocID="{FA675A77-10DD-4626-ABF0-5A9810C85655}" presName="horz1" presStyleCnt="0"/>
      <dgm:spPr/>
    </dgm:pt>
    <dgm:pt modelId="{D2EF30D8-7C3B-4657-B582-7A42D56099ED}" type="pres">
      <dgm:prSet presAssocID="{FA675A77-10DD-4626-ABF0-5A9810C85655}" presName="tx1" presStyleLbl="revTx" presStyleIdx="7" presStyleCnt="12"/>
      <dgm:spPr/>
    </dgm:pt>
    <dgm:pt modelId="{EB96EAFF-6103-4ECA-8333-54F5428681F7}" type="pres">
      <dgm:prSet presAssocID="{FA675A77-10DD-4626-ABF0-5A9810C85655}" presName="vert1" presStyleCnt="0"/>
      <dgm:spPr/>
    </dgm:pt>
    <dgm:pt modelId="{574E749A-A99C-4C19-9FAB-2F82848C4E96}" type="pres">
      <dgm:prSet presAssocID="{E11FB5B3-89E0-44EA-8B1C-276BED1BDCB8}" presName="thickLine" presStyleLbl="alignNode1" presStyleIdx="8" presStyleCnt="12"/>
      <dgm:spPr/>
    </dgm:pt>
    <dgm:pt modelId="{DA685895-4FE2-4C38-85CE-A45ECAF525A5}" type="pres">
      <dgm:prSet presAssocID="{E11FB5B3-89E0-44EA-8B1C-276BED1BDCB8}" presName="horz1" presStyleCnt="0"/>
      <dgm:spPr/>
    </dgm:pt>
    <dgm:pt modelId="{EED4BFF5-AC03-4661-B334-E78475B36A73}" type="pres">
      <dgm:prSet presAssocID="{E11FB5B3-89E0-44EA-8B1C-276BED1BDCB8}" presName="tx1" presStyleLbl="revTx" presStyleIdx="8" presStyleCnt="12"/>
      <dgm:spPr/>
    </dgm:pt>
    <dgm:pt modelId="{571F424D-D1F1-49F3-AFEA-5DC930447EAF}" type="pres">
      <dgm:prSet presAssocID="{E11FB5B3-89E0-44EA-8B1C-276BED1BDCB8}" presName="vert1" presStyleCnt="0"/>
      <dgm:spPr/>
    </dgm:pt>
    <dgm:pt modelId="{FE504158-53A3-4209-AD37-C45807D5FAA2}" type="pres">
      <dgm:prSet presAssocID="{C1D116F5-B273-4747-A7E6-F6CA9C51FAD1}" presName="thickLine" presStyleLbl="alignNode1" presStyleIdx="9" presStyleCnt="12"/>
      <dgm:spPr/>
    </dgm:pt>
    <dgm:pt modelId="{75F74BC6-7E2F-4576-AAA3-4804A62E852C}" type="pres">
      <dgm:prSet presAssocID="{C1D116F5-B273-4747-A7E6-F6CA9C51FAD1}" presName="horz1" presStyleCnt="0"/>
      <dgm:spPr/>
    </dgm:pt>
    <dgm:pt modelId="{C546660D-336C-43C6-A4A0-4B066D472FC8}" type="pres">
      <dgm:prSet presAssocID="{C1D116F5-B273-4747-A7E6-F6CA9C51FAD1}" presName="tx1" presStyleLbl="revTx" presStyleIdx="9" presStyleCnt="12"/>
      <dgm:spPr/>
    </dgm:pt>
    <dgm:pt modelId="{8AA52866-900B-4D2F-B6D2-4E76A3BCF088}" type="pres">
      <dgm:prSet presAssocID="{C1D116F5-B273-4747-A7E6-F6CA9C51FAD1}" presName="vert1" presStyleCnt="0"/>
      <dgm:spPr/>
    </dgm:pt>
    <dgm:pt modelId="{67A808E1-BA48-4CCE-A367-9C997A51DED4}" type="pres">
      <dgm:prSet presAssocID="{C8CD21D4-2E56-4CB8-B5AE-DA8EDA1CBD8A}" presName="thickLine" presStyleLbl="alignNode1" presStyleIdx="10" presStyleCnt="12"/>
      <dgm:spPr/>
    </dgm:pt>
    <dgm:pt modelId="{4DA6EB14-DADF-4EBE-B082-897FB7DA90B0}" type="pres">
      <dgm:prSet presAssocID="{C8CD21D4-2E56-4CB8-B5AE-DA8EDA1CBD8A}" presName="horz1" presStyleCnt="0"/>
      <dgm:spPr/>
    </dgm:pt>
    <dgm:pt modelId="{4616F670-0263-45C5-9B92-D46462D6CF39}" type="pres">
      <dgm:prSet presAssocID="{C8CD21D4-2E56-4CB8-B5AE-DA8EDA1CBD8A}" presName="tx1" presStyleLbl="revTx" presStyleIdx="10" presStyleCnt="12"/>
      <dgm:spPr/>
    </dgm:pt>
    <dgm:pt modelId="{29091E2A-363E-454B-B714-99C0871E167D}" type="pres">
      <dgm:prSet presAssocID="{C8CD21D4-2E56-4CB8-B5AE-DA8EDA1CBD8A}" presName="vert1" presStyleCnt="0"/>
      <dgm:spPr/>
    </dgm:pt>
    <dgm:pt modelId="{77B18120-92EA-4CFC-AB41-4614016A3C2F}" type="pres">
      <dgm:prSet presAssocID="{7C41445F-8712-4251-AD49-8B52BB7741B9}" presName="thickLine" presStyleLbl="alignNode1" presStyleIdx="11" presStyleCnt="12"/>
      <dgm:spPr/>
    </dgm:pt>
    <dgm:pt modelId="{C076781B-C1EE-433E-90A1-15A27137F17E}" type="pres">
      <dgm:prSet presAssocID="{7C41445F-8712-4251-AD49-8B52BB7741B9}" presName="horz1" presStyleCnt="0"/>
      <dgm:spPr/>
    </dgm:pt>
    <dgm:pt modelId="{5BD83361-CDE5-423A-9FB5-5C51EA02ED26}" type="pres">
      <dgm:prSet presAssocID="{7C41445F-8712-4251-AD49-8B52BB7741B9}" presName="tx1" presStyleLbl="revTx" presStyleIdx="11" presStyleCnt="12"/>
      <dgm:spPr/>
    </dgm:pt>
    <dgm:pt modelId="{9DDFFFEB-DC30-431F-A1AA-EDF03B3AEFC0}" type="pres">
      <dgm:prSet presAssocID="{7C41445F-8712-4251-AD49-8B52BB7741B9}" presName="vert1" presStyleCnt="0"/>
      <dgm:spPr/>
    </dgm:pt>
  </dgm:ptLst>
  <dgm:cxnLst>
    <dgm:cxn modelId="{4626520F-6B5B-4770-BE58-5888870980D2}" srcId="{E42C49F1-8B9C-4A91-B30A-AC69FE85F627}" destId="{C1D116F5-B273-4747-A7E6-F6CA9C51FAD1}" srcOrd="9" destOrd="0" parTransId="{BCE16977-6196-4FE4-BDEB-381DB9901911}" sibTransId="{FA86A52D-A8FB-4670-A18D-A21ACAD78215}"/>
    <dgm:cxn modelId="{8D32AE19-804B-4342-83B4-28BA6429F4BB}" type="presOf" srcId="{7C41445F-8712-4251-AD49-8B52BB7741B9}" destId="{5BD83361-CDE5-423A-9FB5-5C51EA02ED26}" srcOrd="0" destOrd="0" presId="urn:microsoft.com/office/officeart/2008/layout/LinedList"/>
    <dgm:cxn modelId="{27243823-4EC9-4CB1-9316-07E2B986DD21}" srcId="{E42C49F1-8B9C-4A91-B30A-AC69FE85F627}" destId="{E11FB5B3-89E0-44EA-8B1C-276BED1BDCB8}" srcOrd="8" destOrd="0" parTransId="{384B5A88-DF19-47CA-A89A-10DC3492E046}" sibTransId="{BECA2F81-4481-4C21-A021-DE29E04EE84E}"/>
    <dgm:cxn modelId="{6607F632-A1A2-4263-87E5-0CC50F65BFB5}" srcId="{E42C49F1-8B9C-4A91-B30A-AC69FE85F627}" destId="{901D5DFA-9F0A-4D95-A9C6-B052BBCD30A7}" srcOrd="3" destOrd="0" parTransId="{FAF3E399-D3E5-46A1-BDD5-3EBE3A0068F3}" sibTransId="{2A477F16-C87F-4ED7-8492-CE4C536A5EDE}"/>
    <dgm:cxn modelId="{9208F834-77C8-4E56-97F0-ECFE76D45D35}" type="presOf" srcId="{842D99FF-8D9B-49F1-B23B-E7370BB15547}" destId="{A4BCD3B3-B69B-4932-AEB7-308F8E8985AD}" srcOrd="0" destOrd="0" presId="urn:microsoft.com/office/officeart/2008/layout/LinedList"/>
    <dgm:cxn modelId="{777B4136-CD74-40CF-9B94-058295C8D1CB}" type="presOf" srcId="{FA675A77-10DD-4626-ABF0-5A9810C85655}" destId="{D2EF30D8-7C3B-4657-B582-7A42D56099ED}" srcOrd="0" destOrd="0" presId="urn:microsoft.com/office/officeart/2008/layout/LinedList"/>
    <dgm:cxn modelId="{5D684240-95AE-4E44-BC48-7762FBD71B9D}" srcId="{E42C49F1-8B9C-4A91-B30A-AC69FE85F627}" destId="{E5D1D727-C3E6-4EA6-97DD-D515FD77BB0E}" srcOrd="2" destOrd="0" parTransId="{C875204A-3CFD-48C0-BBF6-0BE4805E24AC}" sibTransId="{CC4B2A41-6D4C-4139-BB43-071954124C57}"/>
    <dgm:cxn modelId="{73B8165E-6159-458B-A5BA-18A10A676F78}" type="presOf" srcId="{C1D116F5-B273-4747-A7E6-F6CA9C51FAD1}" destId="{C546660D-336C-43C6-A4A0-4B066D472FC8}" srcOrd="0" destOrd="0" presId="urn:microsoft.com/office/officeart/2008/layout/LinedList"/>
    <dgm:cxn modelId="{377C2A48-36A1-4DB0-B1CF-2D4BAD7D88A4}" srcId="{E42C49F1-8B9C-4A91-B30A-AC69FE85F627}" destId="{FA675A77-10DD-4626-ABF0-5A9810C85655}" srcOrd="7" destOrd="0" parTransId="{2BDCA598-B937-483B-B7BE-A13B2E6DCFA4}" sibTransId="{F500EED9-AAAB-4288-974A-3E604181FA86}"/>
    <dgm:cxn modelId="{1C28326D-ECEB-4639-BD88-68341203D58D}" type="presOf" srcId="{E5D1D727-C3E6-4EA6-97DD-D515FD77BB0E}" destId="{432F6123-08ED-4FBC-8E95-29A9F9896E50}" srcOrd="0" destOrd="0" presId="urn:microsoft.com/office/officeart/2008/layout/LinedList"/>
    <dgm:cxn modelId="{D21AA471-3E16-4B9B-A2C3-2889837E0958}" srcId="{E42C49F1-8B9C-4A91-B30A-AC69FE85F627}" destId="{7C41445F-8712-4251-AD49-8B52BB7741B9}" srcOrd="11" destOrd="0" parTransId="{FD7AF65C-04E3-4204-9FEF-A95B20B24EA2}" sibTransId="{9053A79D-2531-42DC-BFD7-6E89C2504B52}"/>
    <dgm:cxn modelId="{B5891C75-AEAA-4C3A-B3EA-4A1CA7BDB83F}" type="presOf" srcId="{3B353D6F-34D5-4125-9BA0-FBDF565D152A}" destId="{A95F6635-BD4B-4903-98CE-62BD7D91B1EF}" srcOrd="0" destOrd="0" presId="urn:microsoft.com/office/officeart/2008/layout/LinedList"/>
    <dgm:cxn modelId="{B0ABAB77-5E4A-4369-B38B-917FC5AABB8F}" srcId="{E42C49F1-8B9C-4A91-B30A-AC69FE85F627}" destId="{49F85A2C-6D1B-4851-B4C7-C0780E620F3D}" srcOrd="4" destOrd="0" parTransId="{FF3CB174-72EB-4B2A-A7A2-CC23B9FFE32C}" sibTransId="{BA8B746D-35CB-4D0D-B5E2-493A6E9881E2}"/>
    <dgm:cxn modelId="{0EF43159-BF96-4410-A653-CAE6D917552B}" type="presOf" srcId="{49F85A2C-6D1B-4851-B4C7-C0780E620F3D}" destId="{02365B17-00F0-4E71-8119-D78E2B279EC2}" srcOrd="0" destOrd="0" presId="urn:microsoft.com/office/officeart/2008/layout/LinedList"/>
    <dgm:cxn modelId="{C9C49E7C-8914-4B37-8455-C14E88AD6C4F}" srcId="{E42C49F1-8B9C-4A91-B30A-AC69FE85F627}" destId="{2A5B9DE4-0E59-4E85-9EE3-2FD185E4B489}" srcOrd="0" destOrd="0" parTransId="{8FBA3336-27C5-45C5-872F-80D996E69DF9}" sibTransId="{4FA8238B-A1CE-4522-8353-FA5EF4724499}"/>
    <dgm:cxn modelId="{71AC837D-37E1-4EE4-9581-C8AD4FA17C83}" type="presOf" srcId="{901D5DFA-9F0A-4D95-A9C6-B052BBCD30A7}" destId="{089EF7ED-B71E-4C3E-A1D0-80E10B0784A4}" srcOrd="0" destOrd="0" presId="urn:microsoft.com/office/officeart/2008/layout/LinedList"/>
    <dgm:cxn modelId="{AE6ACF8D-B832-41EF-8E74-B5B8969CD6D0}" srcId="{E42C49F1-8B9C-4A91-B30A-AC69FE85F627}" destId="{A09FC57D-CFE3-4A42-9D6E-A6554C6D8DBD}" srcOrd="6" destOrd="0" parTransId="{5BD036B4-F717-462E-8BB6-2950EF3ECE20}" sibTransId="{F91DF3FD-480F-42A7-B99F-EC1BBB67969E}"/>
    <dgm:cxn modelId="{69B82A94-1E39-4F3C-9684-761A71613FC0}" type="presOf" srcId="{C8CD21D4-2E56-4CB8-B5AE-DA8EDA1CBD8A}" destId="{4616F670-0263-45C5-9B92-D46462D6CF39}" srcOrd="0" destOrd="0" presId="urn:microsoft.com/office/officeart/2008/layout/LinedList"/>
    <dgm:cxn modelId="{F2984F95-ACA0-4EB6-AD7C-9EC3AA611C82}" type="presOf" srcId="{E42C49F1-8B9C-4A91-B30A-AC69FE85F627}" destId="{CBBD16CF-4F79-4E25-96F0-5EB1C716F5FB}" srcOrd="0" destOrd="0" presId="urn:microsoft.com/office/officeart/2008/layout/LinedList"/>
    <dgm:cxn modelId="{99A58696-9F3C-4E72-828F-3B63B81E84CD}" type="presOf" srcId="{E11FB5B3-89E0-44EA-8B1C-276BED1BDCB8}" destId="{EED4BFF5-AC03-4661-B334-E78475B36A73}" srcOrd="0" destOrd="0" presId="urn:microsoft.com/office/officeart/2008/layout/LinedList"/>
    <dgm:cxn modelId="{4230029F-EA04-4380-8B4A-E29D780BB2B6}" srcId="{E42C49F1-8B9C-4A91-B30A-AC69FE85F627}" destId="{3B353D6F-34D5-4125-9BA0-FBDF565D152A}" srcOrd="1" destOrd="0" parTransId="{4F475388-52D4-4E3C-BAA2-1952F2B02A10}" sibTransId="{C8E87B5D-7723-4834-9AA7-DCE5EF8FB761}"/>
    <dgm:cxn modelId="{3DAC40D5-78CA-4D4A-969F-5320C06B3D50}" srcId="{E42C49F1-8B9C-4A91-B30A-AC69FE85F627}" destId="{C8CD21D4-2E56-4CB8-B5AE-DA8EDA1CBD8A}" srcOrd="10" destOrd="0" parTransId="{53142EB8-B3AD-4F18-8BB7-2B14414572DC}" sibTransId="{C340F4BC-507D-470E-BD46-C5AFC940EE18}"/>
    <dgm:cxn modelId="{D9CA1AD8-08F5-4699-924C-FA0190BDABA4}" srcId="{E42C49F1-8B9C-4A91-B30A-AC69FE85F627}" destId="{842D99FF-8D9B-49F1-B23B-E7370BB15547}" srcOrd="5" destOrd="0" parTransId="{19B31C4E-4AD4-4FD4-A43A-4686DA9BBF67}" sibTransId="{AC6BA9BB-B728-4799-936E-80F1890A3211}"/>
    <dgm:cxn modelId="{094C74E8-C2AA-463A-8146-985FD2F75F7B}" type="presOf" srcId="{A09FC57D-CFE3-4A42-9D6E-A6554C6D8DBD}" destId="{6FD64B48-8408-4578-994E-73F47CECA2E2}" srcOrd="0" destOrd="0" presId="urn:microsoft.com/office/officeart/2008/layout/LinedList"/>
    <dgm:cxn modelId="{ECB861E9-4D79-457F-B81D-F8ACA61FBBAA}" type="presOf" srcId="{2A5B9DE4-0E59-4E85-9EE3-2FD185E4B489}" destId="{D79DBE78-DBD6-4DC1-B845-45F4D857C531}" srcOrd="0" destOrd="0" presId="urn:microsoft.com/office/officeart/2008/layout/LinedList"/>
    <dgm:cxn modelId="{63EBE74A-F51B-494D-B252-B161A9EF2325}" type="presParOf" srcId="{CBBD16CF-4F79-4E25-96F0-5EB1C716F5FB}" destId="{785FA855-1E25-40A2-A8D2-93EDEF0B78DA}" srcOrd="0" destOrd="0" presId="urn:microsoft.com/office/officeart/2008/layout/LinedList"/>
    <dgm:cxn modelId="{25493402-4A2B-45DF-8C74-BA91BE4DEE4F}" type="presParOf" srcId="{CBBD16CF-4F79-4E25-96F0-5EB1C716F5FB}" destId="{B4309259-632C-4306-8B99-08341C87AF5C}" srcOrd="1" destOrd="0" presId="urn:microsoft.com/office/officeart/2008/layout/LinedList"/>
    <dgm:cxn modelId="{B94DAEEA-1647-4115-985D-2B925BC76490}" type="presParOf" srcId="{B4309259-632C-4306-8B99-08341C87AF5C}" destId="{D79DBE78-DBD6-4DC1-B845-45F4D857C531}" srcOrd="0" destOrd="0" presId="urn:microsoft.com/office/officeart/2008/layout/LinedList"/>
    <dgm:cxn modelId="{69D6046D-0CF0-4C84-A54D-0106A8EA2FF2}" type="presParOf" srcId="{B4309259-632C-4306-8B99-08341C87AF5C}" destId="{CF809E93-2BF2-4977-8A30-31129018E145}" srcOrd="1" destOrd="0" presId="urn:microsoft.com/office/officeart/2008/layout/LinedList"/>
    <dgm:cxn modelId="{FD43D7D3-865C-4DBF-8DAA-F098D7F8B34F}" type="presParOf" srcId="{CBBD16CF-4F79-4E25-96F0-5EB1C716F5FB}" destId="{DB719915-A4F3-4DFE-872B-CD03030A78F8}" srcOrd="2" destOrd="0" presId="urn:microsoft.com/office/officeart/2008/layout/LinedList"/>
    <dgm:cxn modelId="{59E2BF67-9B53-4602-A065-335531A66231}" type="presParOf" srcId="{CBBD16CF-4F79-4E25-96F0-5EB1C716F5FB}" destId="{3E51BA48-47AE-4F47-908E-B93ABB368DD8}" srcOrd="3" destOrd="0" presId="urn:microsoft.com/office/officeart/2008/layout/LinedList"/>
    <dgm:cxn modelId="{F186DC5A-6F89-4BBC-9E69-84798D7D01B5}" type="presParOf" srcId="{3E51BA48-47AE-4F47-908E-B93ABB368DD8}" destId="{A95F6635-BD4B-4903-98CE-62BD7D91B1EF}" srcOrd="0" destOrd="0" presId="urn:microsoft.com/office/officeart/2008/layout/LinedList"/>
    <dgm:cxn modelId="{4CACC57C-E90B-4BE6-9ACC-4D4405EAAD66}" type="presParOf" srcId="{3E51BA48-47AE-4F47-908E-B93ABB368DD8}" destId="{333A8B86-B3FB-4BFB-87E2-C6D45E936992}" srcOrd="1" destOrd="0" presId="urn:microsoft.com/office/officeart/2008/layout/LinedList"/>
    <dgm:cxn modelId="{D4056C1B-A9C9-403E-9A21-C699C8755748}" type="presParOf" srcId="{CBBD16CF-4F79-4E25-96F0-5EB1C716F5FB}" destId="{2ABE5C8C-21D6-4EDA-ADF1-044F39ED57BF}" srcOrd="4" destOrd="0" presId="urn:microsoft.com/office/officeart/2008/layout/LinedList"/>
    <dgm:cxn modelId="{C86321D5-5B3A-4347-A02B-709CAB97D0D0}" type="presParOf" srcId="{CBBD16CF-4F79-4E25-96F0-5EB1C716F5FB}" destId="{330EB4DB-4B32-4CB1-A5B2-0C001565F15E}" srcOrd="5" destOrd="0" presId="urn:microsoft.com/office/officeart/2008/layout/LinedList"/>
    <dgm:cxn modelId="{33156C3B-9473-404E-BED5-E3EE4F4E1A16}" type="presParOf" srcId="{330EB4DB-4B32-4CB1-A5B2-0C001565F15E}" destId="{432F6123-08ED-4FBC-8E95-29A9F9896E50}" srcOrd="0" destOrd="0" presId="urn:microsoft.com/office/officeart/2008/layout/LinedList"/>
    <dgm:cxn modelId="{5E6758E0-6C15-4135-AF31-CA4DBA26D4F8}" type="presParOf" srcId="{330EB4DB-4B32-4CB1-A5B2-0C001565F15E}" destId="{9387F1BE-DD77-488D-A5D8-42A862620236}" srcOrd="1" destOrd="0" presId="urn:microsoft.com/office/officeart/2008/layout/LinedList"/>
    <dgm:cxn modelId="{119DB265-F512-47E6-8996-EAF27B4C5721}" type="presParOf" srcId="{CBBD16CF-4F79-4E25-96F0-5EB1C716F5FB}" destId="{BB659F53-9B00-42EC-B13D-175787668E6C}" srcOrd="6" destOrd="0" presId="urn:microsoft.com/office/officeart/2008/layout/LinedList"/>
    <dgm:cxn modelId="{8CFB85D6-8095-42A3-9788-4D5D1581539D}" type="presParOf" srcId="{CBBD16CF-4F79-4E25-96F0-5EB1C716F5FB}" destId="{48D379BE-1579-4268-9C75-43DC0A3DEB51}" srcOrd="7" destOrd="0" presId="urn:microsoft.com/office/officeart/2008/layout/LinedList"/>
    <dgm:cxn modelId="{A9458824-3665-47C4-9607-F9F06733745E}" type="presParOf" srcId="{48D379BE-1579-4268-9C75-43DC0A3DEB51}" destId="{089EF7ED-B71E-4C3E-A1D0-80E10B0784A4}" srcOrd="0" destOrd="0" presId="urn:microsoft.com/office/officeart/2008/layout/LinedList"/>
    <dgm:cxn modelId="{5931E5F0-8C35-4720-94C9-B5E4CAC1587F}" type="presParOf" srcId="{48D379BE-1579-4268-9C75-43DC0A3DEB51}" destId="{C72A2262-D20F-4DDD-80BD-0DEB9BE91829}" srcOrd="1" destOrd="0" presId="urn:microsoft.com/office/officeart/2008/layout/LinedList"/>
    <dgm:cxn modelId="{BF539357-D418-4CE1-9F70-3E1C728924E2}" type="presParOf" srcId="{CBBD16CF-4F79-4E25-96F0-5EB1C716F5FB}" destId="{03FC7DD2-3DB1-4C8F-972E-1067F08802D8}" srcOrd="8" destOrd="0" presId="urn:microsoft.com/office/officeart/2008/layout/LinedList"/>
    <dgm:cxn modelId="{67807736-1F91-4C27-ABAD-3A475AB817AC}" type="presParOf" srcId="{CBBD16CF-4F79-4E25-96F0-5EB1C716F5FB}" destId="{AD6C830F-16CB-437B-ACC5-76C6055B26CA}" srcOrd="9" destOrd="0" presId="urn:microsoft.com/office/officeart/2008/layout/LinedList"/>
    <dgm:cxn modelId="{49B48A74-2874-4E1D-8E89-21090743EED3}" type="presParOf" srcId="{AD6C830F-16CB-437B-ACC5-76C6055B26CA}" destId="{02365B17-00F0-4E71-8119-D78E2B279EC2}" srcOrd="0" destOrd="0" presId="urn:microsoft.com/office/officeart/2008/layout/LinedList"/>
    <dgm:cxn modelId="{BB079221-1B9A-46C9-A2AA-6F40DDC33F22}" type="presParOf" srcId="{AD6C830F-16CB-437B-ACC5-76C6055B26CA}" destId="{722418C1-55AF-4F23-9885-C0B47720CAC2}" srcOrd="1" destOrd="0" presId="urn:microsoft.com/office/officeart/2008/layout/LinedList"/>
    <dgm:cxn modelId="{6BD95CFF-E16F-4DE4-B388-2A6822FC43BF}" type="presParOf" srcId="{CBBD16CF-4F79-4E25-96F0-5EB1C716F5FB}" destId="{01733A27-CEE4-46B8-B6BD-BCF07B5CAFD3}" srcOrd="10" destOrd="0" presId="urn:microsoft.com/office/officeart/2008/layout/LinedList"/>
    <dgm:cxn modelId="{9B58D4FD-355F-483C-9E36-F340F6166A9D}" type="presParOf" srcId="{CBBD16CF-4F79-4E25-96F0-5EB1C716F5FB}" destId="{274FA051-6293-4293-8D40-D4A1DD74012C}" srcOrd="11" destOrd="0" presId="urn:microsoft.com/office/officeart/2008/layout/LinedList"/>
    <dgm:cxn modelId="{E9D3980D-DFD7-4CB4-A79C-8D3840B488B8}" type="presParOf" srcId="{274FA051-6293-4293-8D40-D4A1DD74012C}" destId="{A4BCD3B3-B69B-4932-AEB7-308F8E8985AD}" srcOrd="0" destOrd="0" presId="urn:microsoft.com/office/officeart/2008/layout/LinedList"/>
    <dgm:cxn modelId="{D08C8928-AC77-4CE5-87A8-48C416AAAA18}" type="presParOf" srcId="{274FA051-6293-4293-8D40-D4A1DD74012C}" destId="{C9B45737-147F-4E27-8157-34B0DD1F7DE2}" srcOrd="1" destOrd="0" presId="urn:microsoft.com/office/officeart/2008/layout/LinedList"/>
    <dgm:cxn modelId="{197FD3C0-22A1-407E-9E2B-E28D72E2E21C}" type="presParOf" srcId="{CBBD16CF-4F79-4E25-96F0-5EB1C716F5FB}" destId="{A54D6458-E386-4412-8512-C30263CF25FC}" srcOrd="12" destOrd="0" presId="urn:microsoft.com/office/officeart/2008/layout/LinedList"/>
    <dgm:cxn modelId="{E28DB565-91E1-45FD-BCED-20833F451490}" type="presParOf" srcId="{CBBD16CF-4F79-4E25-96F0-5EB1C716F5FB}" destId="{EE325035-2008-4DB4-AC1C-A52725021B63}" srcOrd="13" destOrd="0" presId="urn:microsoft.com/office/officeart/2008/layout/LinedList"/>
    <dgm:cxn modelId="{2BB0C106-104D-401E-8516-68930E10CF8B}" type="presParOf" srcId="{EE325035-2008-4DB4-AC1C-A52725021B63}" destId="{6FD64B48-8408-4578-994E-73F47CECA2E2}" srcOrd="0" destOrd="0" presId="urn:microsoft.com/office/officeart/2008/layout/LinedList"/>
    <dgm:cxn modelId="{C1F583FC-0A0E-4F8B-9D3A-7523181506D2}" type="presParOf" srcId="{EE325035-2008-4DB4-AC1C-A52725021B63}" destId="{D5EE6142-A68C-4FCC-BDCE-B69241EE1B3B}" srcOrd="1" destOrd="0" presId="urn:microsoft.com/office/officeart/2008/layout/LinedList"/>
    <dgm:cxn modelId="{A91822FC-9F98-4DA5-B23B-B8C5F22A2790}" type="presParOf" srcId="{CBBD16CF-4F79-4E25-96F0-5EB1C716F5FB}" destId="{864235B1-66D5-44B5-B1FA-4A5E96DC70DB}" srcOrd="14" destOrd="0" presId="urn:microsoft.com/office/officeart/2008/layout/LinedList"/>
    <dgm:cxn modelId="{A25D7361-E190-477F-8721-451D33EBEC11}" type="presParOf" srcId="{CBBD16CF-4F79-4E25-96F0-5EB1C716F5FB}" destId="{837633C2-F725-4DB0-A56E-09FDBC0A7F93}" srcOrd="15" destOrd="0" presId="urn:microsoft.com/office/officeart/2008/layout/LinedList"/>
    <dgm:cxn modelId="{0190D537-F562-4F2D-817E-C7F0FCCF37C8}" type="presParOf" srcId="{837633C2-F725-4DB0-A56E-09FDBC0A7F93}" destId="{D2EF30D8-7C3B-4657-B582-7A42D56099ED}" srcOrd="0" destOrd="0" presId="urn:microsoft.com/office/officeart/2008/layout/LinedList"/>
    <dgm:cxn modelId="{7B0B31AE-3049-4D8A-B824-5A692A41084E}" type="presParOf" srcId="{837633C2-F725-4DB0-A56E-09FDBC0A7F93}" destId="{EB96EAFF-6103-4ECA-8333-54F5428681F7}" srcOrd="1" destOrd="0" presId="urn:microsoft.com/office/officeart/2008/layout/LinedList"/>
    <dgm:cxn modelId="{7BA841C8-CF8B-4ADB-A3FA-628DC16642CC}" type="presParOf" srcId="{CBBD16CF-4F79-4E25-96F0-5EB1C716F5FB}" destId="{574E749A-A99C-4C19-9FAB-2F82848C4E96}" srcOrd="16" destOrd="0" presId="urn:microsoft.com/office/officeart/2008/layout/LinedList"/>
    <dgm:cxn modelId="{4040D948-BE7F-4449-835A-D90A18C44564}" type="presParOf" srcId="{CBBD16CF-4F79-4E25-96F0-5EB1C716F5FB}" destId="{DA685895-4FE2-4C38-85CE-A45ECAF525A5}" srcOrd="17" destOrd="0" presId="urn:microsoft.com/office/officeart/2008/layout/LinedList"/>
    <dgm:cxn modelId="{55D57F27-3A0F-4C20-B5A2-EF0D2F5E7C27}" type="presParOf" srcId="{DA685895-4FE2-4C38-85CE-A45ECAF525A5}" destId="{EED4BFF5-AC03-4661-B334-E78475B36A73}" srcOrd="0" destOrd="0" presId="urn:microsoft.com/office/officeart/2008/layout/LinedList"/>
    <dgm:cxn modelId="{C1328998-91D2-457D-A470-959884CBCE10}" type="presParOf" srcId="{DA685895-4FE2-4C38-85CE-A45ECAF525A5}" destId="{571F424D-D1F1-49F3-AFEA-5DC930447EAF}" srcOrd="1" destOrd="0" presId="urn:microsoft.com/office/officeart/2008/layout/LinedList"/>
    <dgm:cxn modelId="{3EE5328B-1E44-4461-99B0-7F0B1701EBA9}" type="presParOf" srcId="{CBBD16CF-4F79-4E25-96F0-5EB1C716F5FB}" destId="{FE504158-53A3-4209-AD37-C45807D5FAA2}" srcOrd="18" destOrd="0" presId="urn:microsoft.com/office/officeart/2008/layout/LinedList"/>
    <dgm:cxn modelId="{1101D724-8CCD-4A32-A7F0-E9E97D8BC39F}" type="presParOf" srcId="{CBBD16CF-4F79-4E25-96F0-5EB1C716F5FB}" destId="{75F74BC6-7E2F-4576-AAA3-4804A62E852C}" srcOrd="19" destOrd="0" presId="urn:microsoft.com/office/officeart/2008/layout/LinedList"/>
    <dgm:cxn modelId="{526647EB-9099-490D-9833-15353AED154E}" type="presParOf" srcId="{75F74BC6-7E2F-4576-AAA3-4804A62E852C}" destId="{C546660D-336C-43C6-A4A0-4B066D472FC8}" srcOrd="0" destOrd="0" presId="urn:microsoft.com/office/officeart/2008/layout/LinedList"/>
    <dgm:cxn modelId="{7227FE26-FF87-4A43-94BE-58BADFCCE120}" type="presParOf" srcId="{75F74BC6-7E2F-4576-AAA3-4804A62E852C}" destId="{8AA52866-900B-4D2F-B6D2-4E76A3BCF088}" srcOrd="1" destOrd="0" presId="urn:microsoft.com/office/officeart/2008/layout/LinedList"/>
    <dgm:cxn modelId="{4CD4C724-24C6-4B6D-9C2D-7A711425F335}" type="presParOf" srcId="{CBBD16CF-4F79-4E25-96F0-5EB1C716F5FB}" destId="{67A808E1-BA48-4CCE-A367-9C997A51DED4}" srcOrd="20" destOrd="0" presId="urn:microsoft.com/office/officeart/2008/layout/LinedList"/>
    <dgm:cxn modelId="{510BC9E7-ADBA-41AE-A615-93241ED72902}" type="presParOf" srcId="{CBBD16CF-4F79-4E25-96F0-5EB1C716F5FB}" destId="{4DA6EB14-DADF-4EBE-B082-897FB7DA90B0}" srcOrd="21" destOrd="0" presId="urn:microsoft.com/office/officeart/2008/layout/LinedList"/>
    <dgm:cxn modelId="{D2511262-67DD-47B9-8324-E922D76C960C}" type="presParOf" srcId="{4DA6EB14-DADF-4EBE-B082-897FB7DA90B0}" destId="{4616F670-0263-45C5-9B92-D46462D6CF39}" srcOrd="0" destOrd="0" presId="urn:microsoft.com/office/officeart/2008/layout/LinedList"/>
    <dgm:cxn modelId="{646552C9-08A7-4331-8246-B2C611396642}" type="presParOf" srcId="{4DA6EB14-DADF-4EBE-B082-897FB7DA90B0}" destId="{29091E2A-363E-454B-B714-99C0871E167D}" srcOrd="1" destOrd="0" presId="urn:microsoft.com/office/officeart/2008/layout/LinedList"/>
    <dgm:cxn modelId="{537CE2D3-5145-4219-A1EE-7D723B60148D}" type="presParOf" srcId="{CBBD16CF-4F79-4E25-96F0-5EB1C716F5FB}" destId="{77B18120-92EA-4CFC-AB41-4614016A3C2F}" srcOrd="22" destOrd="0" presId="urn:microsoft.com/office/officeart/2008/layout/LinedList"/>
    <dgm:cxn modelId="{82BA2218-AF35-44C6-8C56-429B182D3243}" type="presParOf" srcId="{CBBD16CF-4F79-4E25-96F0-5EB1C716F5FB}" destId="{C076781B-C1EE-433E-90A1-15A27137F17E}" srcOrd="23" destOrd="0" presId="urn:microsoft.com/office/officeart/2008/layout/LinedList"/>
    <dgm:cxn modelId="{9C201337-3A50-4483-AF96-55D5475F9EBF}" type="presParOf" srcId="{C076781B-C1EE-433E-90A1-15A27137F17E}" destId="{5BD83361-CDE5-423A-9FB5-5C51EA02ED26}" srcOrd="0" destOrd="0" presId="urn:microsoft.com/office/officeart/2008/layout/LinedList"/>
    <dgm:cxn modelId="{C3CB366D-012C-4E65-A857-DBE5EE44E4A9}" type="presParOf" srcId="{C076781B-C1EE-433E-90A1-15A27137F17E}" destId="{9DDFFFEB-DC30-431F-A1AA-EDF03B3AEF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A5EDAB-472C-42AE-9513-FDCE9705BA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61019F1-9BDE-4C32-93FA-C5A17384E1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There is a moderate positive linear relationship between tv advertising expenditure and sales.</a:t>
          </a:r>
          <a:endParaRPr lang="en-US"/>
        </a:p>
      </dgm:t>
    </dgm:pt>
    <dgm:pt modelId="{FE27C66E-085F-4A2F-AABB-981CA7737411}" type="parTrans" cxnId="{81C295C5-9F42-4789-9918-C244849AAFA6}">
      <dgm:prSet/>
      <dgm:spPr/>
      <dgm:t>
        <a:bodyPr/>
        <a:lstStyle/>
        <a:p>
          <a:endParaRPr lang="en-US"/>
        </a:p>
      </dgm:t>
    </dgm:pt>
    <dgm:pt modelId="{920CC020-FB85-4834-A3B8-861FA6E1E57B}" type="sibTrans" cxnId="{81C295C5-9F42-4789-9918-C244849AAFA6}">
      <dgm:prSet/>
      <dgm:spPr/>
      <dgm:t>
        <a:bodyPr/>
        <a:lstStyle/>
        <a:p>
          <a:endParaRPr lang="en-US"/>
        </a:p>
      </dgm:t>
    </dgm:pt>
    <dgm:pt modelId="{AB9A9BD5-2C78-4ED4-B87A-5E5E3B5BDD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Average TV advertising expenditure is between £13,110 and £16,298 with 99% confidence</a:t>
          </a:r>
          <a:endParaRPr lang="en-US"/>
        </a:p>
      </dgm:t>
    </dgm:pt>
    <dgm:pt modelId="{46550CED-0EB6-4A2C-A576-0653DEA5E228}" type="parTrans" cxnId="{C97093B3-D848-463E-B563-564A06D6BE54}">
      <dgm:prSet/>
      <dgm:spPr/>
      <dgm:t>
        <a:bodyPr/>
        <a:lstStyle/>
        <a:p>
          <a:endParaRPr lang="en-US"/>
        </a:p>
      </dgm:t>
    </dgm:pt>
    <dgm:pt modelId="{2B3A6D81-01A3-40BE-A40A-6B35681F15FA}" type="sibTrans" cxnId="{C97093B3-D848-463E-B563-564A06D6BE54}">
      <dgm:prSet/>
      <dgm:spPr/>
      <dgm:t>
        <a:bodyPr/>
        <a:lstStyle/>
        <a:p>
          <a:endParaRPr lang="en-US"/>
        </a:p>
      </dgm:t>
    </dgm:pt>
    <dgm:pt modelId="{4773549C-2DA3-4EDD-8869-50FE2164BC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The coefficient of determination indicates that 61.19% of the variation of data in sales is explained by TV advertising expenditure</a:t>
          </a:r>
          <a:endParaRPr lang="en-US"/>
        </a:p>
      </dgm:t>
    </dgm:pt>
    <dgm:pt modelId="{B42AC27E-AE04-40E4-9927-92319C1E4F98}" type="parTrans" cxnId="{4B5612BE-2024-48CE-A1EC-5FB27367364B}">
      <dgm:prSet/>
      <dgm:spPr/>
      <dgm:t>
        <a:bodyPr/>
        <a:lstStyle/>
        <a:p>
          <a:endParaRPr lang="en-US"/>
        </a:p>
      </dgm:t>
    </dgm:pt>
    <dgm:pt modelId="{70823FF7-B954-4081-B13A-1BEBF7020D32}" type="sibTrans" cxnId="{4B5612BE-2024-48CE-A1EC-5FB27367364B}">
      <dgm:prSet/>
      <dgm:spPr/>
      <dgm:t>
        <a:bodyPr/>
        <a:lstStyle/>
        <a:p>
          <a:endParaRPr lang="en-US"/>
        </a:p>
      </dgm:t>
    </dgm:pt>
    <dgm:pt modelId="{44BDC05F-5AA3-4C63-A811-CA4E60341C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Gained hands-on experience in applying statistical techniques such as linear regression, residual analysis etc.</a:t>
          </a:r>
          <a:endParaRPr lang="en-US"/>
        </a:p>
      </dgm:t>
    </dgm:pt>
    <dgm:pt modelId="{5E13D211-4BEE-49DC-A50F-BA52275A3F9D}" type="parTrans" cxnId="{0F713D4B-58D1-423E-9B2D-1D6E79D11549}">
      <dgm:prSet/>
      <dgm:spPr/>
      <dgm:t>
        <a:bodyPr/>
        <a:lstStyle/>
        <a:p>
          <a:endParaRPr lang="en-US"/>
        </a:p>
      </dgm:t>
    </dgm:pt>
    <dgm:pt modelId="{0D499C55-8D8C-41DB-81D9-F2BD359892BA}" type="sibTrans" cxnId="{0F713D4B-58D1-423E-9B2D-1D6E79D11549}">
      <dgm:prSet/>
      <dgm:spPr/>
      <dgm:t>
        <a:bodyPr/>
        <a:lstStyle/>
        <a:p>
          <a:endParaRPr lang="en-US"/>
        </a:p>
      </dgm:t>
    </dgm:pt>
    <dgm:pt modelId="{C3A5D0E4-4BF2-4BFC-8830-C8DF809AE7D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Improved efficiency in Excel especially with functions regression analysis, creating scatter plots and calculating confidence levels</a:t>
          </a:r>
          <a:endParaRPr lang="en-US"/>
        </a:p>
      </dgm:t>
    </dgm:pt>
    <dgm:pt modelId="{1ABFD2B8-EB2B-4C05-9F36-76B61DA142DE}" type="parTrans" cxnId="{F9E45FDA-6EE3-4FAD-912A-CF4E9BA56F30}">
      <dgm:prSet/>
      <dgm:spPr/>
      <dgm:t>
        <a:bodyPr/>
        <a:lstStyle/>
        <a:p>
          <a:endParaRPr lang="en-US"/>
        </a:p>
      </dgm:t>
    </dgm:pt>
    <dgm:pt modelId="{C1B8211C-F7A1-4B9C-B20B-AC805A53CB3D}" type="sibTrans" cxnId="{F9E45FDA-6EE3-4FAD-912A-CF4E9BA56F30}">
      <dgm:prSet/>
      <dgm:spPr/>
      <dgm:t>
        <a:bodyPr/>
        <a:lstStyle/>
        <a:p>
          <a:endParaRPr lang="en-US"/>
        </a:p>
      </dgm:t>
    </dgm:pt>
    <dgm:pt modelId="{2500B705-6E91-4D4A-A50E-82D22762BB9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Team members had varying levels of excel knowledge, leading to manual calculations instead of using built in functions, which caused delays and took extra time to learn</a:t>
          </a:r>
          <a:endParaRPr lang="en-US" dirty="0"/>
        </a:p>
      </dgm:t>
    </dgm:pt>
    <dgm:pt modelId="{F7485DEA-0789-4C4D-B15B-CA026E2AF1D2}" type="parTrans" cxnId="{8E2B192F-9F2F-4CF9-997C-42F7B05697B8}">
      <dgm:prSet/>
      <dgm:spPr/>
      <dgm:t>
        <a:bodyPr/>
        <a:lstStyle/>
        <a:p>
          <a:endParaRPr lang="en-US"/>
        </a:p>
      </dgm:t>
    </dgm:pt>
    <dgm:pt modelId="{28A30235-0FAF-4F06-B7FE-AEA80760AA77}" type="sibTrans" cxnId="{8E2B192F-9F2F-4CF9-997C-42F7B05697B8}">
      <dgm:prSet/>
      <dgm:spPr/>
      <dgm:t>
        <a:bodyPr/>
        <a:lstStyle/>
        <a:p>
          <a:endParaRPr lang="en-US"/>
        </a:p>
      </dgm:t>
    </dgm:pt>
    <dgm:pt modelId="{38978823-3217-46C0-9DFF-653110AD56BA}" type="pres">
      <dgm:prSet presAssocID="{FCA5EDAB-472C-42AE-9513-FDCE9705BA9C}" presName="root" presStyleCnt="0">
        <dgm:presLayoutVars>
          <dgm:dir/>
          <dgm:resizeHandles val="exact"/>
        </dgm:presLayoutVars>
      </dgm:prSet>
      <dgm:spPr/>
    </dgm:pt>
    <dgm:pt modelId="{DA9977CB-742D-4A31-8DC1-19317DA0B21E}" type="pres">
      <dgm:prSet presAssocID="{861019F1-9BDE-4C32-93FA-C5A17384E153}" presName="compNode" presStyleCnt="0"/>
      <dgm:spPr/>
    </dgm:pt>
    <dgm:pt modelId="{DC9AAEEB-C3F1-4B91-935B-966F46578451}" type="pres">
      <dgm:prSet presAssocID="{861019F1-9BDE-4C32-93FA-C5A17384E153}" presName="bgRect" presStyleLbl="bgShp" presStyleIdx="0" presStyleCnt="6"/>
      <dgm:spPr/>
    </dgm:pt>
    <dgm:pt modelId="{147877EA-834C-49AD-BE16-858D67AA6407}" type="pres">
      <dgm:prSet presAssocID="{861019F1-9BDE-4C32-93FA-C5A17384E15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96CBA619-3419-4BEF-BE18-C50A2FE1C012}" type="pres">
      <dgm:prSet presAssocID="{861019F1-9BDE-4C32-93FA-C5A17384E153}" presName="spaceRect" presStyleCnt="0"/>
      <dgm:spPr/>
    </dgm:pt>
    <dgm:pt modelId="{A8FF6FC5-254D-4E46-BAE5-A7819C70C5E0}" type="pres">
      <dgm:prSet presAssocID="{861019F1-9BDE-4C32-93FA-C5A17384E153}" presName="parTx" presStyleLbl="revTx" presStyleIdx="0" presStyleCnt="6">
        <dgm:presLayoutVars>
          <dgm:chMax val="0"/>
          <dgm:chPref val="0"/>
        </dgm:presLayoutVars>
      </dgm:prSet>
      <dgm:spPr/>
    </dgm:pt>
    <dgm:pt modelId="{65CF4344-1788-4EAC-9178-B4183AF280F7}" type="pres">
      <dgm:prSet presAssocID="{920CC020-FB85-4834-A3B8-861FA6E1E57B}" presName="sibTrans" presStyleCnt="0"/>
      <dgm:spPr/>
    </dgm:pt>
    <dgm:pt modelId="{142FFAD7-0C94-41E2-8206-F8F0713ED7BD}" type="pres">
      <dgm:prSet presAssocID="{AB9A9BD5-2C78-4ED4-B87A-5E5E3B5BDD33}" presName="compNode" presStyleCnt="0"/>
      <dgm:spPr/>
    </dgm:pt>
    <dgm:pt modelId="{32C2BE89-71CE-4233-AC94-0B2E0A27E03E}" type="pres">
      <dgm:prSet presAssocID="{AB9A9BD5-2C78-4ED4-B87A-5E5E3B5BDD33}" presName="bgRect" presStyleLbl="bgShp" presStyleIdx="1" presStyleCnt="6"/>
      <dgm:spPr/>
    </dgm:pt>
    <dgm:pt modelId="{5CCDF739-1BF7-4AA4-8384-7CFBDAA85303}" type="pres">
      <dgm:prSet presAssocID="{AB9A9BD5-2C78-4ED4-B87A-5E5E3B5BDD3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E5AEFDBF-058F-42EC-AE75-958671CC4472}" type="pres">
      <dgm:prSet presAssocID="{AB9A9BD5-2C78-4ED4-B87A-5E5E3B5BDD33}" presName="spaceRect" presStyleCnt="0"/>
      <dgm:spPr/>
    </dgm:pt>
    <dgm:pt modelId="{4017983E-03B8-47D6-801C-6323BE92AD7C}" type="pres">
      <dgm:prSet presAssocID="{AB9A9BD5-2C78-4ED4-B87A-5E5E3B5BDD33}" presName="parTx" presStyleLbl="revTx" presStyleIdx="1" presStyleCnt="6">
        <dgm:presLayoutVars>
          <dgm:chMax val="0"/>
          <dgm:chPref val="0"/>
        </dgm:presLayoutVars>
      </dgm:prSet>
      <dgm:spPr/>
    </dgm:pt>
    <dgm:pt modelId="{1E7E5309-DB0C-4A73-BB05-EBF5CAF28B88}" type="pres">
      <dgm:prSet presAssocID="{2B3A6D81-01A3-40BE-A40A-6B35681F15FA}" presName="sibTrans" presStyleCnt="0"/>
      <dgm:spPr/>
    </dgm:pt>
    <dgm:pt modelId="{C06F5604-8051-4C3A-A141-86C6096ED7BE}" type="pres">
      <dgm:prSet presAssocID="{4773549C-2DA3-4EDD-8869-50FE2164BC63}" presName="compNode" presStyleCnt="0"/>
      <dgm:spPr/>
    </dgm:pt>
    <dgm:pt modelId="{FEA439F4-4F18-4203-949E-CABC558118FB}" type="pres">
      <dgm:prSet presAssocID="{4773549C-2DA3-4EDD-8869-50FE2164BC63}" presName="bgRect" presStyleLbl="bgShp" presStyleIdx="2" presStyleCnt="6"/>
      <dgm:spPr/>
    </dgm:pt>
    <dgm:pt modelId="{CF82625A-7DD0-42AC-8E87-CB6B9C93ABBD}" type="pres">
      <dgm:prSet presAssocID="{4773549C-2DA3-4EDD-8869-50FE2164BC6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7ACA21DC-6A18-4AA9-9E0C-2309C291958E}" type="pres">
      <dgm:prSet presAssocID="{4773549C-2DA3-4EDD-8869-50FE2164BC63}" presName="spaceRect" presStyleCnt="0"/>
      <dgm:spPr/>
    </dgm:pt>
    <dgm:pt modelId="{F3AF0AA2-072B-45CE-B867-570992D3820B}" type="pres">
      <dgm:prSet presAssocID="{4773549C-2DA3-4EDD-8869-50FE2164BC63}" presName="parTx" presStyleLbl="revTx" presStyleIdx="2" presStyleCnt="6">
        <dgm:presLayoutVars>
          <dgm:chMax val="0"/>
          <dgm:chPref val="0"/>
        </dgm:presLayoutVars>
      </dgm:prSet>
      <dgm:spPr/>
    </dgm:pt>
    <dgm:pt modelId="{AADC33D4-39CD-43A0-B004-0A633CCF717C}" type="pres">
      <dgm:prSet presAssocID="{70823FF7-B954-4081-B13A-1BEBF7020D32}" presName="sibTrans" presStyleCnt="0"/>
      <dgm:spPr/>
    </dgm:pt>
    <dgm:pt modelId="{35AB9B9C-EBC4-4103-86BA-2A2A3FE790D5}" type="pres">
      <dgm:prSet presAssocID="{44BDC05F-5AA3-4C63-A811-CA4E60341CBA}" presName="compNode" presStyleCnt="0"/>
      <dgm:spPr/>
    </dgm:pt>
    <dgm:pt modelId="{C8C482CD-4FD9-40D3-AFAA-528157B3DE58}" type="pres">
      <dgm:prSet presAssocID="{44BDC05F-5AA3-4C63-A811-CA4E60341CBA}" presName="bgRect" presStyleLbl="bgShp" presStyleIdx="3" presStyleCnt="6"/>
      <dgm:spPr/>
    </dgm:pt>
    <dgm:pt modelId="{1ED57870-2654-4B78-8C69-013B87C0F02C}" type="pres">
      <dgm:prSet presAssocID="{44BDC05F-5AA3-4C63-A811-CA4E60341CB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2B5207B-B5DB-49A9-ACB2-7CFD4475A348}" type="pres">
      <dgm:prSet presAssocID="{44BDC05F-5AA3-4C63-A811-CA4E60341CBA}" presName="spaceRect" presStyleCnt="0"/>
      <dgm:spPr/>
    </dgm:pt>
    <dgm:pt modelId="{3F038E83-8218-48BB-9641-7F86FD29CED3}" type="pres">
      <dgm:prSet presAssocID="{44BDC05F-5AA3-4C63-A811-CA4E60341CBA}" presName="parTx" presStyleLbl="revTx" presStyleIdx="3" presStyleCnt="6">
        <dgm:presLayoutVars>
          <dgm:chMax val="0"/>
          <dgm:chPref val="0"/>
        </dgm:presLayoutVars>
      </dgm:prSet>
      <dgm:spPr/>
    </dgm:pt>
    <dgm:pt modelId="{20A4DEF2-B5F6-4042-9F7A-DE11160D5A68}" type="pres">
      <dgm:prSet presAssocID="{0D499C55-8D8C-41DB-81D9-F2BD359892BA}" presName="sibTrans" presStyleCnt="0"/>
      <dgm:spPr/>
    </dgm:pt>
    <dgm:pt modelId="{603B5577-4D10-49A8-B6C3-3827E8F99225}" type="pres">
      <dgm:prSet presAssocID="{C3A5D0E4-4BF2-4BFC-8830-C8DF809AE7DF}" presName="compNode" presStyleCnt="0"/>
      <dgm:spPr/>
    </dgm:pt>
    <dgm:pt modelId="{3639EDBD-91CB-415B-92E7-A8F15594B843}" type="pres">
      <dgm:prSet presAssocID="{C3A5D0E4-4BF2-4BFC-8830-C8DF809AE7DF}" presName="bgRect" presStyleLbl="bgShp" presStyleIdx="4" presStyleCnt="6"/>
      <dgm:spPr/>
    </dgm:pt>
    <dgm:pt modelId="{10C1402C-C995-42D0-94B6-33867F37325B}" type="pres">
      <dgm:prSet presAssocID="{C3A5D0E4-4BF2-4BFC-8830-C8DF809AE7D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065A346-B7AA-4033-A440-6045AF7BE8A6}" type="pres">
      <dgm:prSet presAssocID="{C3A5D0E4-4BF2-4BFC-8830-C8DF809AE7DF}" presName="spaceRect" presStyleCnt="0"/>
      <dgm:spPr/>
    </dgm:pt>
    <dgm:pt modelId="{46FEB6E5-1C3A-4937-AEEA-91253363B498}" type="pres">
      <dgm:prSet presAssocID="{C3A5D0E4-4BF2-4BFC-8830-C8DF809AE7DF}" presName="parTx" presStyleLbl="revTx" presStyleIdx="4" presStyleCnt="6">
        <dgm:presLayoutVars>
          <dgm:chMax val="0"/>
          <dgm:chPref val="0"/>
        </dgm:presLayoutVars>
      </dgm:prSet>
      <dgm:spPr/>
    </dgm:pt>
    <dgm:pt modelId="{D34E7A39-D442-4329-B18C-BF9A19B54C65}" type="pres">
      <dgm:prSet presAssocID="{C1B8211C-F7A1-4B9C-B20B-AC805A53CB3D}" presName="sibTrans" presStyleCnt="0"/>
      <dgm:spPr/>
    </dgm:pt>
    <dgm:pt modelId="{396DEC7C-4F08-4C52-A902-F87252250C19}" type="pres">
      <dgm:prSet presAssocID="{2500B705-6E91-4D4A-A50E-82D22762BB99}" presName="compNode" presStyleCnt="0"/>
      <dgm:spPr/>
    </dgm:pt>
    <dgm:pt modelId="{93C59748-7B47-437F-8845-0F64FFC83DFD}" type="pres">
      <dgm:prSet presAssocID="{2500B705-6E91-4D4A-A50E-82D22762BB99}" presName="bgRect" presStyleLbl="bgShp" presStyleIdx="5" presStyleCnt="6"/>
      <dgm:spPr/>
    </dgm:pt>
    <dgm:pt modelId="{5C4A7D89-5B62-4DB0-8671-BD31E0F4EC5E}" type="pres">
      <dgm:prSet presAssocID="{2500B705-6E91-4D4A-A50E-82D22762BB9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81A6E75-6BB6-4151-802F-31D4B42FFFC4}" type="pres">
      <dgm:prSet presAssocID="{2500B705-6E91-4D4A-A50E-82D22762BB99}" presName="spaceRect" presStyleCnt="0"/>
      <dgm:spPr/>
    </dgm:pt>
    <dgm:pt modelId="{7E861279-BA25-45CA-B7DC-0EEC989BA995}" type="pres">
      <dgm:prSet presAssocID="{2500B705-6E91-4D4A-A50E-82D22762BB99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090360B-F885-4E7C-A2F5-EEDAEB672E44}" type="presOf" srcId="{861019F1-9BDE-4C32-93FA-C5A17384E153}" destId="{A8FF6FC5-254D-4E46-BAE5-A7819C70C5E0}" srcOrd="0" destOrd="0" presId="urn:microsoft.com/office/officeart/2018/2/layout/IconVerticalSolidList"/>
    <dgm:cxn modelId="{E76C9614-D993-41A8-BB64-38704FE54161}" type="presOf" srcId="{C3A5D0E4-4BF2-4BFC-8830-C8DF809AE7DF}" destId="{46FEB6E5-1C3A-4937-AEEA-91253363B498}" srcOrd="0" destOrd="0" presId="urn:microsoft.com/office/officeart/2018/2/layout/IconVerticalSolidList"/>
    <dgm:cxn modelId="{44FAB120-217F-4550-8307-E65C6B1FED62}" type="presOf" srcId="{2500B705-6E91-4D4A-A50E-82D22762BB99}" destId="{7E861279-BA25-45CA-B7DC-0EEC989BA995}" srcOrd="0" destOrd="0" presId="urn:microsoft.com/office/officeart/2018/2/layout/IconVerticalSolidList"/>
    <dgm:cxn modelId="{8E2B192F-9F2F-4CF9-997C-42F7B05697B8}" srcId="{FCA5EDAB-472C-42AE-9513-FDCE9705BA9C}" destId="{2500B705-6E91-4D4A-A50E-82D22762BB99}" srcOrd="5" destOrd="0" parTransId="{F7485DEA-0789-4C4D-B15B-CA026E2AF1D2}" sibTransId="{28A30235-0FAF-4F06-B7FE-AEA80760AA77}"/>
    <dgm:cxn modelId="{0F713D4B-58D1-423E-9B2D-1D6E79D11549}" srcId="{FCA5EDAB-472C-42AE-9513-FDCE9705BA9C}" destId="{44BDC05F-5AA3-4C63-A811-CA4E60341CBA}" srcOrd="3" destOrd="0" parTransId="{5E13D211-4BEE-49DC-A50F-BA52275A3F9D}" sibTransId="{0D499C55-8D8C-41DB-81D9-F2BD359892BA}"/>
    <dgm:cxn modelId="{6F445C80-2242-4683-B128-13F2930E3910}" type="presOf" srcId="{4773549C-2DA3-4EDD-8869-50FE2164BC63}" destId="{F3AF0AA2-072B-45CE-B867-570992D3820B}" srcOrd="0" destOrd="0" presId="urn:microsoft.com/office/officeart/2018/2/layout/IconVerticalSolidList"/>
    <dgm:cxn modelId="{C97093B3-D848-463E-B563-564A06D6BE54}" srcId="{FCA5EDAB-472C-42AE-9513-FDCE9705BA9C}" destId="{AB9A9BD5-2C78-4ED4-B87A-5E5E3B5BDD33}" srcOrd="1" destOrd="0" parTransId="{46550CED-0EB6-4A2C-A576-0653DEA5E228}" sibTransId="{2B3A6D81-01A3-40BE-A40A-6B35681F15FA}"/>
    <dgm:cxn modelId="{5EAFF6B8-8B3D-414D-8166-CC34E4F53E1A}" type="presOf" srcId="{FCA5EDAB-472C-42AE-9513-FDCE9705BA9C}" destId="{38978823-3217-46C0-9DFF-653110AD56BA}" srcOrd="0" destOrd="0" presId="urn:microsoft.com/office/officeart/2018/2/layout/IconVerticalSolidList"/>
    <dgm:cxn modelId="{4B5612BE-2024-48CE-A1EC-5FB27367364B}" srcId="{FCA5EDAB-472C-42AE-9513-FDCE9705BA9C}" destId="{4773549C-2DA3-4EDD-8869-50FE2164BC63}" srcOrd="2" destOrd="0" parTransId="{B42AC27E-AE04-40E4-9927-92319C1E4F98}" sibTransId="{70823FF7-B954-4081-B13A-1BEBF7020D32}"/>
    <dgm:cxn modelId="{81C295C5-9F42-4789-9918-C244849AAFA6}" srcId="{FCA5EDAB-472C-42AE-9513-FDCE9705BA9C}" destId="{861019F1-9BDE-4C32-93FA-C5A17384E153}" srcOrd="0" destOrd="0" parTransId="{FE27C66E-085F-4A2F-AABB-981CA7737411}" sibTransId="{920CC020-FB85-4834-A3B8-861FA6E1E57B}"/>
    <dgm:cxn modelId="{F9E45FDA-6EE3-4FAD-912A-CF4E9BA56F30}" srcId="{FCA5EDAB-472C-42AE-9513-FDCE9705BA9C}" destId="{C3A5D0E4-4BF2-4BFC-8830-C8DF809AE7DF}" srcOrd="4" destOrd="0" parTransId="{1ABFD2B8-EB2B-4C05-9F36-76B61DA142DE}" sibTransId="{C1B8211C-F7A1-4B9C-B20B-AC805A53CB3D}"/>
    <dgm:cxn modelId="{99FC47E6-EA1E-4B4F-9C1C-59205321B00C}" type="presOf" srcId="{44BDC05F-5AA3-4C63-A811-CA4E60341CBA}" destId="{3F038E83-8218-48BB-9641-7F86FD29CED3}" srcOrd="0" destOrd="0" presId="urn:microsoft.com/office/officeart/2018/2/layout/IconVerticalSolidList"/>
    <dgm:cxn modelId="{765B5CF0-B6DA-47A7-A822-B0D003E10885}" type="presOf" srcId="{AB9A9BD5-2C78-4ED4-B87A-5E5E3B5BDD33}" destId="{4017983E-03B8-47D6-801C-6323BE92AD7C}" srcOrd="0" destOrd="0" presId="urn:microsoft.com/office/officeart/2018/2/layout/IconVerticalSolidList"/>
    <dgm:cxn modelId="{A9E96500-1F4F-41DC-B9AD-FD720CF90EF5}" type="presParOf" srcId="{38978823-3217-46C0-9DFF-653110AD56BA}" destId="{DA9977CB-742D-4A31-8DC1-19317DA0B21E}" srcOrd="0" destOrd="0" presId="urn:microsoft.com/office/officeart/2018/2/layout/IconVerticalSolidList"/>
    <dgm:cxn modelId="{AC89F823-443A-405E-994B-5AE83D464AA8}" type="presParOf" srcId="{DA9977CB-742D-4A31-8DC1-19317DA0B21E}" destId="{DC9AAEEB-C3F1-4B91-935B-966F46578451}" srcOrd="0" destOrd="0" presId="urn:microsoft.com/office/officeart/2018/2/layout/IconVerticalSolidList"/>
    <dgm:cxn modelId="{1780B376-10DD-4948-B62B-40BC7083513D}" type="presParOf" srcId="{DA9977CB-742D-4A31-8DC1-19317DA0B21E}" destId="{147877EA-834C-49AD-BE16-858D67AA6407}" srcOrd="1" destOrd="0" presId="urn:microsoft.com/office/officeart/2018/2/layout/IconVerticalSolidList"/>
    <dgm:cxn modelId="{EF58148E-C004-4A8F-972C-7ADE0F87E4D1}" type="presParOf" srcId="{DA9977CB-742D-4A31-8DC1-19317DA0B21E}" destId="{96CBA619-3419-4BEF-BE18-C50A2FE1C012}" srcOrd="2" destOrd="0" presId="urn:microsoft.com/office/officeart/2018/2/layout/IconVerticalSolidList"/>
    <dgm:cxn modelId="{FEC56EAC-F309-4075-A883-B67B510864D6}" type="presParOf" srcId="{DA9977CB-742D-4A31-8DC1-19317DA0B21E}" destId="{A8FF6FC5-254D-4E46-BAE5-A7819C70C5E0}" srcOrd="3" destOrd="0" presId="urn:microsoft.com/office/officeart/2018/2/layout/IconVerticalSolidList"/>
    <dgm:cxn modelId="{4F7E0A78-FE1B-4C34-B7AD-C50AC828676B}" type="presParOf" srcId="{38978823-3217-46C0-9DFF-653110AD56BA}" destId="{65CF4344-1788-4EAC-9178-B4183AF280F7}" srcOrd="1" destOrd="0" presId="urn:microsoft.com/office/officeart/2018/2/layout/IconVerticalSolidList"/>
    <dgm:cxn modelId="{3EEBC8F0-9FEC-4EE7-A2AF-C8CDEB8B85A9}" type="presParOf" srcId="{38978823-3217-46C0-9DFF-653110AD56BA}" destId="{142FFAD7-0C94-41E2-8206-F8F0713ED7BD}" srcOrd="2" destOrd="0" presId="urn:microsoft.com/office/officeart/2018/2/layout/IconVerticalSolidList"/>
    <dgm:cxn modelId="{6129D503-BEB8-422B-B69C-336D1C7157F0}" type="presParOf" srcId="{142FFAD7-0C94-41E2-8206-F8F0713ED7BD}" destId="{32C2BE89-71CE-4233-AC94-0B2E0A27E03E}" srcOrd="0" destOrd="0" presId="urn:microsoft.com/office/officeart/2018/2/layout/IconVerticalSolidList"/>
    <dgm:cxn modelId="{AD1DA35D-484A-4B99-AB3C-2C2BB2009790}" type="presParOf" srcId="{142FFAD7-0C94-41E2-8206-F8F0713ED7BD}" destId="{5CCDF739-1BF7-4AA4-8384-7CFBDAA85303}" srcOrd="1" destOrd="0" presId="urn:microsoft.com/office/officeart/2018/2/layout/IconVerticalSolidList"/>
    <dgm:cxn modelId="{1B1B3932-546D-4240-99DB-7981EB963E2E}" type="presParOf" srcId="{142FFAD7-0C94-41E2-8206-F8F0713ED7BD}" destId="{E5AEFDBF-058F-42EC-AE75-958671CC4472}" srcOrd="2" destOrd="0" presId="urn:microsoft.com/office/officeart/2018/2/layout/IconVerticalSolidList"/>
    <dgm:cxn modelId="{215CF4C9-5E84-441A-AB83-1E04BA53C762}" type="presParOf" srcId="{142FFAD7-0C94-41E2-8206-F8F0713ED7BD}" destId="{4017983E-03B8-47D6-801C-6323BE92AD7C}" srcOrd="3" destOrd="0" presId="urn:microsoft.com/office/officeart/2018/2/layout/IconVerticalSolidList"/>
    <dgm:cxn modelId="{04706B28-4728-4BAD-9098-83774D823756}" type="presParOf" srcId="{38978823-3217-46C0-9DFF-653110AD56BA}" destId="{1E7E5309-DB0C-4A73-BB05-EBF5CAF28B88}" srcOrd="3" destOrd="0" presId="urn:microsoft.com/office/officeart/2018/2/layout/IconVerticalSolidList"/>
    <dgm:cxn modelId="{CB975609-B7A7-447D-A16E-2A9DBEEB85AD}" type="presParOf" srcId="{38978823-3217-46C0-9DFF-653110AD56BA}" destId="{C06F5604-8051-4C3A-A141-86C6096ED7BE}" srcOrd="4" destOrd="0" presId="urn:microsoft.com/office/officeart/2018/2/layout/IconVerticalSolidList"/>
    <dgm:cxn modelId="{A02870DD-CFAA-4EDB-BB41-1DF308D94572}" type="presParOf" srcId="{C06F5604-8051-4C3A-A141-86C6096ED7BE}" destId="{FEA439F4-4F18-4203-949E-CABC558118FB}" srcOrd="0" destOrd="0" presId="urn:microsoft.com/office/officeart/2018/2/layout/IconVerticalSolidList"/>
    <dgm:cxn modelId="{9C87663B-A3D3-43A5-B987-A9C27AA915D6}" type="presParOf" srcId="{C06F5604-8051-4C3A-A141-86C6096ED7BE}" destId="{CF82625A-7DD0-42AC-8E87-CB6B9C93ABBD}" srcOrd="1" destOrd="0" presId="urn:microsoft.com/office/officeart/2018/2/layout/IconVerticalSolidList"/>
    <dgm:cxn modelId="{9D62B9AE-6721-46BE-9BFF-6015B2637C99}" type="presParOf" srcId="{C06F5604-8051-4C3A-A141-86C6096ED7BE}" destId="{7ACA21DC-6A18-4AA9-9E0C-2309C291958E}" srcOrd="2" destOrd="0" presId="urn:microsoft.com/office/officeart/2018/2/layout/IconVerticalSolidList"/>
    <dgm:cxn modelId="{D22EBF9B-598F-4F33-A0AD-D80D2EA606CE}" type="presParOf" srcId="{C06F5604-8051-4C3A-A141-86C6096ED7BE}" destId="{F3AF0AA2-072B-45CE-B867-570992D3820B}" srcOrd="3" destOrd="0" presId="urn:microsoft.com/office/officeart/2018/2/layout/IconVerticalSolidList"/>
    <dgm:cxn modelId="{DB899E96-7B6C-413E-97D6-754DCAADA066}" type="presParOf" srcId="{38978823-3217-46C0-9DFF-653110AD56BA}" destId="{AADC33D4-39CD-43A0-B004-0A633CCF717C}" srcOrd="5" destOrd="0" presId="urn:microsoft.com/office/officeart/2018/2/layout/IconVerticalSolidList"/>
    <dgm:cxn modelId="{4B368C27-FF3F-4538-B79E-CDF4B9716BC1}" type="presParOf" srcId="{38978823-3217-46C0-9DFF-653110AD56BA}" destId="{35AB9B9C-EBC4-4103-86BA-2A2A3FE790D5}" srcOrd="6" destOrd="0" presId="urn:microsoft.com/office/officeart/2018/2/layout/IconVerticalSolidList"/>
    <dgm:cxn modelId="{FB99DE33-886D-462C-9CA1-B291306A557E}" type="presParOf" srcId="{35AB9B9C-EBC4-4103-86BA-2A2A3FE790D5}" destId="{C8C482CD-4FD9-40D3-AFAA-528157B3DE58}" srcOrd="0" destOrd="0" presId="urn:microsoft.com/office/officeart/2018/2/layout/IconVerticalSolidList"/>
    <dgm:cxn modelId="{5D4A2FB9-C7DD-4925-AA95-8F15B83E66E5}" type="presParOf" srcId="{35AB9B9C-EBC4-4103-86BA-2A2A3FE790D5}" destId="{1ED57870-2654-4B78-8C69-013B87C0F02C}" srcOrd="1" destOrd="0" presId="urn:microsoft.com/office/officeart/2018/2/layout/IconVerticalSolidList"/>
    <dgm:cxn modelId="{9C26329B-F5BB-4E2A-B97E-25E7B82F3D3D}" type="presParOf" srcId="{35AB9B9C-EBC4-4103-86BA-2A2A3FE790D5}" destId="{C2B5207B-B5DB-49A9-ACB2-7CFD4475A348}" srcOrd="2" destOrd="0" presId="urn:microsoft.com/office/officeart/2018/2/layout/IconVerticalSolidList"/>
    <dgm:cxn modelId="{8DBB13A2-EC28-4C2A-A5AE-B676FAB64B35}" type="presParOf" srcId="{35AB9B9C-EBC4-4103-86BA-2A2A3FE790D5}" destId="{3F038E83-8218-48BB-9641-7F86FD29CED3}" srcOrd="3" destOrd="0" presId="urn:microsoft.com/office/officeart/2018/2/layout/IconVerticalSolidList"/>
    <dgm:cxn modelId="{CB2AF811-C2FA-48BA-A06D-2FD30F96545C}" type="presParOf" srcId="{38978823-3217-46C0-9DFF-653110AD56BA}" destId="{20A4DEF2-B5F6-4042-9F7A-DE11160D5A68}" srcOrd="7" destOrd="0" presId="urn:microsoft.com/office/officeart/2018/2/layout/IconVerticalSolidList"/>
    <dgm:cxn modelId="{3F1A7133-DD0F-472D-9920-44C8470BC6C8}" type="presParOf" srcId="{38978823-3217-46C0-9DFF-653110AD56BA}" destId="{603B5577-4D10-49A8-B6C3-3827E8F99225}" srcOrd="8" destOrd="0" presId="urn:microsoft.com/office/officeart/2018/2/layout/IconVerticalSolidList"/>
    <dgm:cxn modelId="{C0AAD7F8-C3D0-4B12-BEC9-E6C51106E941}" type="presParOf" srcId="{603B5577-4D10-49A8-B6C3-3827E8F99225}" destId="{3639EDBD-91CB-415B-92E7-A8F15594B843}" srcOrd="0" destOrd="0" presId="urn:microsoft.com/office/officeart/2018/2/layout/IconVerticalSolidList"/>
    <dgm:cxn modelId="{7A97A10D-B11B-4F1A-89EE-A09D62827521}" type="presParOf" srcId="{603B5577-4D10-49A8-B6C3-3827E8F99225}" destId="{10C1402C-C995-42D0-94B6-33867F37325B}" srcOrd="1" destOrd="0" presId="urn:microsoft.com/office/officeart/2018/2/layout/IconVerticalSolidList"/>
    <dgm:cxn modelId="{7A850707-7B1B-4D12-9822-FFC005D08069}" type="presParOf" srcId="{603B5577-4D10-49A8-B6C3-3827E8F99225}" destId="{E065A346-B7AA-4033-A440-6045AF7BE8A6}" srcOrd="2" destOrd="0" presId="urn:microsoft.com/office/officeart/2018/2/layout/IconVerticalSolidList"/>
    <dgm:cxn modelId="{EB4307A9-12E8-4D8C-AC89-6F3A12A6BF13}" type="presParOf" srcId="{603B5577-4D10-49A8-B6C3-3827E8F99225}" destId="{46FEB6E5-1C3A-4937-AEEA-91253363B498}" srcOrd="3" destOrd="0" presId="urn:microsoft.com/office/officeart/2018/2/layout/IconVerticalSolidList"/>
    <dgm:cxn modelId="{A14AA11B-F29A-48C6-90C3-47CFB50FDCA4}" type="presParOf" srcId="{38978823-3217-46C0-9DFF-653110AD56BA}" destId="{D34E7A39-D442-4329-B18C-BF9A19B54C65}" srcOrd="9" destOrd="0" presId="urn:microsoft.com/office/officeart/2018/2/layout/IconVerticalSolidList"/>
    <dgm:cxn modelId="{579D4AA2-FA14-4AEE-8D90-02BDBB82E06D}" type="presParOf" srcId="{38978823-3217-46C0-9DFF-653110AD56BA}" destId="{396DEC7C-4F08-4C52-A902-F87252250C19}" srcOrd="10" destOrd="0" presId="urn:microsoft.com/office/officeart/2018/2/layout/IconVerticalSolidList"/>
    <dgm:cxn modelId="{025B67D4-DF6E-4D7B-AE6C-DDE09641436C}" type="presParOf" srcId="{396DEC7C-4F08-4C52-A902-F87252250C19}" destId="{93C59748-7B47-437F-8845-0F64FFC83DFD}" srcOrd="0" destOrd="0" presId="urn:microsoft.com/office/officeart/2018/2/layout/IconVerticalSolidList"/>
    <dgm:cxn modelId="{29F669F5-7D37-4F0F-848F-C2F149AA49A4}" type="presParOf" srcId="{396DEC7C-4F08-4C52-A902-F87252250C19}" destId="{5C4A7D89-5B62-4DB0-8671-BD31E0F4EC5E}" srcOrd="1" destOrd="0" presId="urn:microsoft.com/office/officeart/2018/2/layout/IconVerticalSolidList"/>
    <dgm:cxn modelId="{28CA952D-AF55-4B96-8BBA-8BD396FE3C80}" type="presParOf" srcId="{396DEC7C-4F08-4C52-A902-F87252250C19}" destId="{881A6E75-6BB6-4151-802F-31D4B42FFFC4}" srcOrd="2" destOrd="0" presId="urn:microsoft.com/office/officeart/2018/2/layout/IconVerticalSolidList"/>
    <dgm:cxn modelId="{6A484D5D-7788-485B-BA04-4B69261B7434}" type="presParOf" srcId="{396DEC7C-4F08-4C52-A902-F87252250C19}" destId="{7E861279-BA25-45CA-B7DC-0EEC989BA9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FA855-1E25-40A2-A8D2-93EDEF0B78DA}">
      <dsp:nvSpPr>
        <dsp:cNvPr id="0" name=""/>
        <dsp:cNvSpPr/>
      </dsp:nvSpPr>
      <dsp:spPr>
        <a:xfrm>
          <a:off x="0" y="2672"/>
          <a:ext cx="723522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79DBE78-DBD6-4DC1-B845-45F4D857C531}">
      <dsp:nvSpPr>
        <dsp:cNvPr id="0" name=""/>
        <dsp:cNvSpPr/>
      </dsp:nvSpPr>
      <dsp:spPr>
        <a:xfrm>
          <a:off x="0" y="2672"/>
          <a:ext cx="7235223" cy="45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Project Title - Slide 1 </a:t>
          </a:r>
          <a:endParaRPr lang="en-US" sz="2200" kern="1200" dirty="0"/>
        </a:p>
      </dsp:txBody>
      <dsp:txXfrm>
        <a:off x="0" y="2672"/>
        <a:ext cx="7235223" cy="455662"/>
      </dsp:txXfrm>
    </dsp:sp>
    <dsp:sp modelId="{DB719915-A4F3-4DFE-872B-CD03030A78F8}">
      <dsp:nvSpPr>
        <dsp:cNvPr id="0" name=""/>
        <dsp:cNvSpPr/>
      </dsp:nvSpPr>
      <dsp:spPr>
        <a:xfrm>
          <a:off x="0" y="458335"/>
          <a:ext cx="7235223" cy="0"/>
        </a:xfrm>
        <a:prstGeom prst="line">
          <a:avLst/>
        </a:prstGeom>
        <a:gradFill rotWithShape="0">
          <a:gsLst>
            <a:gs pos="0">
              <a:schemeClr val="accent2">
                <a:hueOff val="-397654"/>
                <a:satOff val="-765"/>
                <a:lumOff val="53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97654"/>
                <a:satOff val="-765"/>
                <a:lumOff val="53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97654"/>
                <a:satOff val="-765"/>
                <a:lumOff val="53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97654"/>
              <a:satOff val="-765"/>
              <a:lumOff val="53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5F6635-BD4B-4903-98CE-62BD7D91B1EF}">
      <dsp:nvSpPr>
        <dsp:cNvPr id="0" name=""/>
        <dsp:cNvSpPr/>
      </dsp:nvSpPr>
      <dsp:spPr>
        <a:xfrm>
          <a:off x="0" y="458335"/>
          <a:ext cx="7235223" cy="45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Table of Contents – Slide 2</a:t>
          </a:r>
          <a:endParaRPr lang="en-US" sz="2200" kern="1200" dirty="0"/>
        </a:p>
      </dsp:txBody>
      <dsp:txXfrm>
        <a:off x="0" y="458335"/>
        <a:ext cx="7235223" cy="455662"/>
      </dsp:txXfrm>
    </dsp:sp>
    <dsp:sp modelId="{2ABE5C8C-21D6-4EDA-ADF1-044F39ED57BF}">
      <dsp:nvSpPr>
        <dsp:cNvPr id="0" name=""/>
        <dsp:cNvSpPr/>
      </dsp:nvSpPr>
      <dsp:spPr>
        <a:xfrm>
          <a:off x="0" y="913998"/>
          <a:ext cx="7235223" cy="0"/>
        </a:xfrm>
        <a:prstGeom prst="line">
          <a:avLst/>
        </a:prstGeom>
        <a:gradFill rotWithShape="0">
          <a:gsLst>
            <a:gs pos="0">
              <a:schemeClr val="accent2">
                <a:hueOff val="-795308"/>
                <a:satOff val="-1531"/>
                <a:lumOff val="107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795308"/>
                <a:satOff val="-1531"/>
                <a:lumOff val="107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795308"/>
                <a:satOff val="-1531"/>
                <a:lumOff val="107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795308"/>
              <a:satOff val="-1531"/>
              <a:lumOff val="107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2F6123-08ED-4FBC-8E95-29A9F9896E50}">
      <dsp:nvSpPr>
        <dsp:cNvPr id="0" name=""/>
        <dsp:cNvSpPr/>
      </dsp:nvSpPr>
      <dsp:spPr>
        <a:xfrm>
          <a:off x="0" y="913998"/>
          <a:ext cx="7235223" cy="45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Project Tasks – Slide 3</a:t>
          </a:r>
          <a:endParaRPr lang="en-US" sz="2200" kern="1200" dirty="0"/>
        </a:p>
      </dsp:txBody>
      <dsp:txXfrm>
        <a:off x="0" y="913998"/>
        <a:ext cx="7235223" cy="455662"/>
      </dsp:txXfrm>
    </dsp:sp>
    <dsp:sp modelId="{BB659F53-9B00-42EC-B13D-175787668E6C}">
      <dsp:nvSpPr>
        <dsp:cNvPr id="0" name=""/>
        <dsp:cNvSpPr/>
      </dsp:nvSpPr>
      <dsp:spPr>
        <a:xfrm>
          <a:off x="0" y="1369661"/>
          <a:ext cx="7235223" cy="0"/>
        </a:xfrm>
        <a:prstGeom prst="line">
          <a:avLst/>
        </a:prstGeom>
        <a:gradFill rotWithShape="0">
          <a:gsLst>
            <a:gs pos="0">
              <a:schemeClr val="accent2">
                <a:hueOff val="-1192962"/>
                <a:satOff val="-2296"/>
                <a:lumOff val="16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192962"/>
                <a:satOff val="-2296"/>
                <a:lumOff val="16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192962"/>
                <a:satOff val="-2296"/>
                <a:lumOff val="16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192962"/>
              <a:satOff val="-2296"/>
              <a:lumOff val="16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9EF7ED-B71E-4C3E-A1D0-80E10B0784A4}">
      <dsp:nvSpPr>
        <dsp:cNvPr id="0" name=""/>
        <dsp:cNvSpPr/>
      </dsp:nvSpPr>
      <dsp:spPr>
        <a:xfrm>
          <a:off x="0" y="1369661"/>
          <a:ext cx="7235223" cy="45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How we did it – Slide 4 </a:t>
          </a:r>
          <a:endParaRPr lang="en-US" sz="2200" kern="1200" dirty="0"/>
        </a:p>
      </dsp:txBody>
      <dsp:txXfrm>
        <a:off x="0" y="1369661"/>
        <a:ext cx="7235223" cy="455662"/>
      </dsp:txXfrm>
    </dsp:sp>
    <dsp:sp modelId="{03FC7DD2-3DB1-4C8F-972E-1067F08802D8}">
      <dsp:nvSpPr>
        <dsp:cNvPr id="0" name=""/>
        <dsp:cNvSpPr/>
      </dsp:nvSpPr>
      <dsp:spPr>
        <a:xfrm>
          <a:off x="0" y="1825323"/>
          <a:ext cx="7235223" cy="0"/>
        </a:xfrm>
        <a:prstGeom prst="line">
          <a:avLst/>
        </a:prstGeom>
        <a:gradFill rotWithShape="0">
          <a:gsLst>
            <a:gs pos="0">
              <a:schemeClr val="accent2">
                <a:hueOff val="-1590615"/>
                <a:satOff val="-3062"/>
                <a:lumOff val="214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590615"/>
                <a:satOff val="-3062"/>
                <a:lumOff val="214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590615"/>
                <a:satOff val="-3062"/>
                <a:lumOff val="214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590615"/>
              <a:satOff val="-3062"/>
              <a:lumOff val="214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365B17-00F0-4E71-8119-D78E2B279EC2}">
      <dsp:nvSpPr>
        <dsp:cNvPr id="0" name=""/>
        <dsp:cNvSpPr/>
      </dsp:nvSpPr>
      <dsp:spPr>
        <a:xfrm>
          <a:off x="0" y="1825323"/>
          <a:ext cx="7235223" cy="45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Scatterplot – Slide 5</a:t>
          </a:r>
          <a:endParaRPr lang="en-US" sz="2200" kern="1200" dirty="0"/>
        </a:p>
      </dsp:txBody>
      <dsp:txXfrm>
        <a:off x="0" y="1825323"/>
        <a:ext cx="7235223" cy="455662"/>
      </dsp:txXfrm>
    </dsp:sp>
    <dsp:sp modelId="{01733A27-CEE4-46B8-B6BD-BCF07B5CAFD3}">
      <dsp:nvSpPr>
        <dsp:cNvPr id="0" name=""/>
        <dsp:cNvSpPr/>
      </dsp:nvSpPr>
      <dsp:spPr>
        <a:xfrm>
          <a:off x="0" y="2280986"/>
          <a:ext cx="7235223" cy="0"/>
        </a:xfrm>
        <a:prstGeom prst="line">
          <a:avLst/>
        </a:prstGeom>
        <a:gradFill rotWithShape="0">
          <a:gsLst>
            <a:gs pos="0">
              <a:schemeClr val="accent2">
                <a:hueOff val="-1988269"/>
                <a:satOff val="-3827"/>
                <a:lumOff val="267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988269"/>
                <a:satOff val="-3827"/>
                <a:lumOff val="267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988269"/>
                <a:satOff val="-3827"/>
                <a:lumOff val="267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988269"/>
              <a:satOff val="-3827"/>
              <a:lumOff val="267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BCD3B3-B69B-4932-AEB7-308F8E8985AD}">
      <dsp:nvSpPr>
        <dsp:cNvPr id="0" name=""/>
        <dsp:cNvSpPr/>
      </dsp:nvSpPr>
      <dsp:spPr>
        <a:xfrm>
          <a:off x="0" y="2280986"/>
          <a:ext cx="7235223" cy="45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Regression Analysis – Slide 6</a:t>
          </a:r>
          <a:endParaRPr lang="en-US" sz="2200" kern="1200" dirty="0"/>
        </a:p>
      </dsp:txBody>
      <dsp:txXfrm>
        <a:off x="0" y="2280986"/>
        <a:ext cx="7235223" cy="455662"/>
      </dsp:txXfrm>
    </dsp:sp>
    <dsp:sp modelId="{A54D6458-E386-4412-8512-C30263CF25FC}">
      <dsp:nvSpPr>
        <dsp:cNvPr id="0" name=""/>
        <dsp:cNvSpPr/>
      </dsp:nvSpPr>
      <dsp:spPr>
        <a:xfrm>
          <a:off x="0" y="2736649"/>
          <a:ext cx="7235223" cy="0"/>
        </a:xfrm>
        <a:prstGeom prst="line">
          <a:avLst/>
        </a:prstGeom>
        <a:gradFill rotWithShape="0">
          <a:gsLst>
            <a:gs pos="0">
              <a:schemeClr val="accent2">
                <a:hueOff val="-2385923"/>
                <a:satOff val="-4593"/>
                <a:lumOff val="32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385923"/>
                <a:satOff val="-4593"/>
                <a:lumOff val="32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385923"/>
                <a:satOff val="-4593"/>
                <a:lumOff val="32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2385923"/>
              <a:satOff val="-4593"/>
              <a:lumOff val="321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D64B48-8408-4578-994E-73F47CECA2E2}">
      <dsp:nvSpPr>
        <dsp:cNvPr id="0" name=""/>
        <dsp:cNvSpPr/>
      </dsp:nvSpPr>
      <dsp:spPr>
        <a:xfrm>
          <a:off x="0" y="2736649"/>
          <a:ext cx="7235223" cy="45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Residual Analysis – Slide 7</a:t>
          </a:r>
          <a:endParaRPr lang="en-US" sz="2200" kern="1200" dirty="0"/>
        </a:p>
      </dsp:txBody>
      <dsp:txXfrm>
        <a:off x="0" y="2736649"/>
        <a:ext cx="7235223" cy="455662"/>
      </dsp:txXfrm>
    </dsp:sp>
    <dsp:sp modelId="{864235B1-66D5-44B5-B1FA-4A5E96DC70DB}">
      <dsp:nvSpPr>
        <dsp:cNvPr id="0" name=""/>
        <dsp:cNvSpPr/>
      </dsp:nvSpPr>
      <dsp:spPr>
        <a:xfrm>
          <a:off x="0" y="3192312"/>
          <a:ext cx="7235223" cy="0"/>
        </a:xfrm>
        <a:prstGeom prst="line">
          <a:avLst/>
        </a:prstGeom>
        <a:gradFill rotWithShape="0">
          <a:gsLst>
            <a:gs pos="0">
              <a:schemeClr val="accent2">
                <a:hueOff val="-2783577"/>
                <a:satOff val="-5358"/>
                <a:lumOff val="374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783577"/>
                <a:satOff val="-5358"/>
                <a:lumOff val="374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783577"/>
                <a:satOff val="-5358"/>
                <a:lumOff val="374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2783577"/>
              <a:satOff val="-5358"/>
              <a:lumOff val="374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EF30D8-7C3B-4657-B582-7A42D56099ED}">
      <dsp:nvSpPr>
        <dsp:cNvPr id="0" name=""/>
        <dsp:cNvSpPr/>
      </dsp:nvSpPr>
      <dsp:spPr>
        <a:xfrm>
          <a:off x="0" y="3192312"/>
          <a:ext cx="7235223" cy="45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Confidence Intervals – Slide 8</a:t>
          </a:r>
          <a:endParaRPr lang="en-US" sz="2200" kern="1200" dirty="0"/>
        </a:p>
      </dsp:txBody>
      <dsp:txXfrm>
        <a:off x="0" y="3192312"/>
        <a:ext cx="7235223" cy="455662"/>
      </dsp:txXfrm>
    </dsp:sp>
    <dsp:sp modelId="{574E749A-A99C-4C19-9FAB-2F82848C4E96}">
      <dsp:nvSpPr>
        <dsp:cNvPr id="0" name=""/>
        <dsp:cNvSpPr/>
      </dsp:nvSpPr>
      <dsp:spPr>
        <a:xfrm>
          <a:off x="0" y="3647975"/>
          <a:ext cx="7235223" cy="0"/>
        </a:xfrm>
        <a:prstGeom prst="line">
          <a:avLst/>
        </a:prstGeom>
        <a:gradFill rotWithShape="0">
          <a:gsLst>
            <a:gs pos="0">
              <a:schemeClr val="accent2">
                <a:hueOff val="-3181231"/>
                <a:satOff val="-6124"/>
                <a:lumOff val="42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181231"/>
                <a:satOff val="-6124"/>
                <a:lumOff val="42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181231"/>
                <a:satOff val="-6124"/>
                <a:lumOff val="42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181231"/>
              <a:satOff val="-6124"/>
              <a:lumOff val="428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ED4BFF5-AC03-4661-B334-E78475B36A73}">
      <dsp:nvSpPr>
        <dsp:cNvPr id="0" name=""/>
        <dsp:cNvSpPr/>
      </dsp:nvSpPr>
      <dsp:spPr>
        <a:xfrm>
          <a:off x="0" y="3647975"/>
          <a:ext cx="7235223" cy="45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Hypothesis Test – Slide 9</a:t>
          </a:r>
          <a:endParaRPr lang="en-US" sz="2200" kern="1200" dirty="0"/>
        </a:p>
      </dsp:txBody>
      <dsp:txXfrm>
        <a:off x="0" y="3647975"/>
        <a:ext cx="7235223" cy="455662"/>
      </dsp:txXfrm>
    </dsp:sp>
    <dsp:sp modelId="{FE504158-53A3-4209-AD37-C45807D5FAA2}">
      <dsp:nvSpPr>
        <dsp:cNvPr id="0" name=""/>
        <dsp:cNvSpPr/>
      </dsp:nvSpPr>
      <dsp:spPr>
        <a:xfrm>
          <a:off x="0" y="4103637"/>
          <a:ext cx="7235223" cy="0"/>
        </a:xfrm>
        <a:prstGeom prst="line">
          <a:avLst/>
        </a:prstGeom>
        <a:gradFill rotWithShape="0">
          <a:gsLst>
            <a:gs pos="0">
              <a:schemeClr val="accent2">
                <a:hueOff val="-3578885"/>
                <a:satOff val="-6889"/>
                <a:lumOff val="48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578885"/>
                <a:satOff val="-6889"/>
                <a:lumOff val="48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578885"/>
                <a:satOff val="-6889"/>
                <a:lumOff val="48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578885"/>
              <a:satOff val="-6889"/>
              <a:lumOff val="481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46660D-336C-43C6-A4A0-4B066D472FC8}">
      <dsp:nvSpPr>
        <dsp:cNvPr id="0" name=""/>
        <dsp:cNvSpPr/>
      </dsp:nvSpPr>
      <dsp:spPr>
        <a:xfrm>
          <a:off x="0" y="4103637"/>
          <a:ext cx="7235223" cy="45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Hypothesis Test Extended – Slide 10</a:t>
          </a:r>
          <a:endParaRPr lang="en-US" sz="2200" kern="1200" dirty="0"/>
        </a:p>
      </dsp:txBody>
      <dsp:txXfrm>
        <a:off x="0" y="4103637"/>
        <a:ext cx="7235223" cy="455662"/>
      </dsp:txXfrm>
    </dsp:sp>
    <dsp:sp modelId="{67A808E1-BA48-4CCE-A367-9C997A51DED4}">
      <dsp:nvSpPr>
        <dsp:cNvPr id="0" name=""/>
        <dsp:cNvSpPr/>
      </dsp:nvSpPr>
      <dsp:spPr>
        <a:xfrm>
          <a:off x="0" y="4559300"/>
          <a:ext cx="7235223" cy="0"/>
        </a:xfrm>
        <a:prstGeom prst="line">
          <a:avLst/>
        </a:prstGeom>
        <a:gradFill rotWithShape="0">
          <a:gsLst>
            <a:gs pos="0">
              <a:schemeClr val="accent2">
                <a:hueOff val="-3976539"/>
                <a:satOff val="-7655"/>
                <a:lumOff val="535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976539"/>
                <a:satOff val="-7655"/>
                <a:lumOff val="535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976539"/>
                <a:satOff val="-7655"/>
                <a:lumOff val="535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976539"/>
              <a:satOff val="-7655"/>
              <a:lumOff val="535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16F670-0263-45C5-9B92-D46462D6CF39}">
      <dsp:nvSpPr>
        <dsp:cNvPr id="0" name=""/>
        <dsp:cNvSpPr/>
      </dsp:nvSpPr>
      <dsp:spPr>
        <a:xfrm>
          <a:off x="0" y="4559300"/>
          <a:ext cx="7235223" cy="45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Conclusions – Slide 11</a:t>
          </a:r>
          <a:endParaRPr lang="en-US" sz="2200" kern="1200" dirty="0"/>
        </a:p>
      </dsp:txBody>
      <dsp:txXfrm>
        <a:off x="0" y="4559300"/>
        <a:ext cx="7235223" cy="455662"/>
      </dsp:txXfrm>
    </dsp:sp>
    <dsp:sp modelId="{77B18120-92EA-4CFC-AB41-4614016A3C2F}">
      <dsp:nvSpPr>
        <dsp:cNvPr id="0" name=""/>
        <dsp:cNvSpPr/>
      </dsp:nvSpPr>
      <dsp:spPr>
        <a:xfrm>
          <a:off x="0" y="5014963"/>
          <a:ext cx="7235223" cy="0"/>
        </a:xfrm>
        <a:prstGeom prst="line">
          <a:avLst/>
        </a:prstGeom>
        <a:gradFill rotWithShape="0">
          <a:gsLst>
            <a:gs pos="0">
              <a:schemeClr val="accent2">
                <a:hueOff val="-4374192"/>
                <a:satOff val="-8420"/>
                <a:lumOff val="58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4374192"/>
                <a:satOff val="-8420"/>
                <a:lumOff val="58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4374192"/>
                <a:satOff val="-8420"/>
                <a:lumOff val="58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4374192"/>
              <a:satOff val="-8420"/>
              <a:lumOff val="588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BD83361-CDE5-423A-9FB5-5C51EA02ED26}">
      <dsp:nvSpPr>
        <dsp:cNvPr id="0" name=""/>
        <dsp:cNvSpPr/>
      </dsp:nvSpPr>
      <dsp:spPr>
        <a:xfrm>
          <a:off x="0" y="5014963"/>
          <a:ext cx="7235223" cy="455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References – Slide 12</a:t>
          </a:r>
          <a:endParaRPr lang="en-US" sz="2200" kern="1200" dirty="0"/>
        </a:p>
      </dsp:txBody>
      <dsp:txXfrm>
        <a:off x="0" y="5014963"/>
        <a:ext cx="7235223" cy="4556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9AAEEB-C3F1-4B91-935B-966F46578451}">
      <dsp:nvSpPr>
        <dsp:cNvPr id="0" name=""/>
        <dsp:cNvSpPr/>
      </dsp:nvSpPr>
      <dsp:spPr>
        <a:xfrm>
          <a:off x="0" y="2052"/>
          <a:ext cx="7525511" cy="8747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7877EA-834C-49AD-BE16-858D67AA6407}">
      <dsp:nvSpPr>
        <dsp:cNvPr id="0" name=""/>
        <dsp:cNvSpPr/>
      </dsp:nvSpPr>
      <dsp:spPr>
        <a:xfrm>
          <a:off x="264607" y="198868"/>
          <a:ext cx="481104" cy="481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F6FC5-254D-4E46-BAE5-A7819C70C5E0}">
      <dsp:nvSpPr>
        <dsp:cNvPr id="0" name=""/>
        <dsp:cNvSpPr/>
      </dsp:nvSpPr>
      <dsp:spPr>
        <a:xfrm>
          <a:off x="1010319" y="2052"/>
          <a:ext cx="6515191" cy="874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576" tIns="92576" rIns="92576" bIns="9257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There is a moderate positive linear relationship between tv advertising expenditure and sales.</a:t>
          </a:r>
          <a:endParaRPr lang="en-US" sz="1600" kern="1200"/>
        </a:p>
      </dsp:txBody>
      <dsp:txXfrm>
        <a:off x="1010319" y="2052"/>
        <a:ext cx="6515191" cy="874735"/>
      </dsp:txXfrm>
    </dsp:sp>
    <dsp:sp modelId="{32C2BE89-71CE-4233-AC94-0B2E0A27E03E}">
      <dsp:nvSpPr>
        <dsp:cNvPr id="0" name=""/>
        <dsp:cNvSpPr/>
      </dsp:nvSpPr>
      <dsp:spPr>
        <a:xfrm>
          <a:off x="0" y="1095471"/>
          <a:ext cx="7525511" cy="8747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CDF739-1BF7-4AA4-8384-7CFBDAA85303}">
      <dsp:nvSpPr>
        <dsp:cNvPr id="0" name=""/>
        <dsp:cNvSpPr/>
      </dsp:nvSpPr>
      <dsp:spPr>
        <a:xfrm>
          <a:off x="264607" y="1292287"/>
          <a:ext cx="481104" cy="481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7983E-03B8-47D6-801C-6323BE92AD7C}">
      <dsp:nvSpPr>
        <dsp:cNvPr id="0" name=""/>
        <dsp:cNvSpPr/>
      </dsp:nvSpPr>
      <dsp:spPr>
        <a:xfrm>
          <a:off x="1010319" y="1095471"/>
          <a:ext cx="6515191" cy="874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576" tIns="92576" rIns="92576" bIns="9257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Average TV advertising expenditure is between £13,110 and £16,298 with 99% confidence</a:t>
          </a:r>
          <a:endParaRPr lang="en-US" sz="1600" kern="1200"/>
        </a:p>
      </dsp:txBody>
      <dsp:txXfrm>
        <a:off x="1010319" y="1095471"/>
        <a:ext cx="6515191" cy="874735"/>
      </dsp:txXfrm>
    </dsp:sp>
    <dsp:sp modelId="{FEA439F4-4F18-4203-949E-CABC558118FB}">
      <dsp:nvSpPr>
        <dsp:cNvPr id="0" name=""/>
        <dsp:cNvSpPr/>
      </dsp:nvSpPr>
      <dsp:spPr>
        <a:xfrm>
          <a:off x="0" y="2188890"/>
          <a:ext cx="7525511" cy="8747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82625A-7DD0-42AC-8E87-CB6B9C93ABBD}">
      <dsp:nvSpPr>
        <dsp:cNvPr id="0" name=""/>
        <dsp:cNvSpPr/>
      </dsp:nvSpPr>
      <dsp:spPr>
        <a:xfrm>
          <a:off x="264607" y="2385706"/>
          <a:ext cx="481104" cy="481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F0AA2-072B-45CE-B867-570992D3820B}">
      <dsp:nvSpPr>
        <dsp:cNvPr id="0" name=""/>
        <dsp:cNvSpPr/>
      </dsp:nvSpPr>
      <dsp:spPr>
        <a:xfrm>
          <a:off x="1010319" y="2188890"/>
          <a:ext cx="6515191" cy="874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576" tIns="92576" rIns="92576" bIns="9257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The coefficient of determination indicates that 61.19% of the variation of data in sales is explained by TV advertising expenditure</a:t>
          </a:r>
          <a:endParaRPr lang="en-US" sz="1600" kern="1200"/>
        </a:p>
      </dsp:txBody>
      <dsp:txXfrm>
        <a:off x="1010319" y="2188890"/>
        <a:ext cx="6515191" cy="874735"/>
      </dsp:txXfrm>
    </dsp:sp>
    <dsp:sp modelId="{C8C482CD-4FD9-40D3-AFAA-528157B3DE58}">
      <dsp:nvSpPr>
        <dsp:cNvPr id="0" name=""/>
        <dsp:cNvSpPr/>
      </dsp:nvSpPr>
      <dsp:spPr>
        <a:xfrm>
          <a:off x="0" y="3282309"/>
          <a:ext cx="7525511" cy="8747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D57870-2654-4B78-8C69-013B87C0F02C}">
      <dsp:nvSpPr>
        <dsp:cNvPr id="0" name=""/>
        <dsp:cNvSpPr/>
      </dsp:nvSpPr>
      <dsp:spPr>
        <a:xfrm>
          <a:off x="264607" y="3479125"/>
          <a:ext cx="481104" cy="4811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38E83-8218-48BB-9641-7F86FD29CED3}">
      <dsp:nvSpPr>
        <dsp:cNvPr id="0" name=""/>
        <dsp:cNvSpPr/>
      </dsp:nvSpPr>
      <dsp:spPr>
        <a:xfrm>
          <a:off x="1010319" y="3282309"/>
          <a:ext cx="6515191" cy="874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576" tIns="92576" rIns="92576" bIns="9257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Gained hands-on experience in applying statistical techniques such as linear regression, residual analysis etc.</a:t>
          </a:r>
          <a:endParaRPr lang="en-US" sz="1600" kern="1200"/>
        </a:p>
      </dsp:txBody>
      <dsp:txXfrm>
        <a:off x="1010319" y="3282309"/>
        <a:ext cx="6515191" cy="874735"/>
      </dsp:txXfrm>
    </dsp:sp>
    <dsp:sp modelId="{3639EDBD-91CB-415B-92E7-A8F15594B843}">
      <dsp:nvSpPr>
        <dsp:cNvPr id="0" name=""/>
        <dsp:cNvSpPr/>
      </dsp:nvSpPr>
      <dsp:spPr>
        <a:xfrm>
          <a:off x="0" y="4375728"/>
          <a:ext cx="7525511" cy="8747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1402C-C995-42D0-94B6-33867F37325B}">
      <dsp:nvSpPr>
        <dsp:cNvPr id="0" name=""/>
        <dsp:cNvSpPr/>
      </dsp:nvSpPr>
      <dsp:spPr>
        <a:xfrm>
          <a:off x="264607" y="4572544"/>
          <a:ext cx="481104" cy="48110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EB6E5-1C3A-4937-AEEA-91253363B498}">
      <dsp:nvSpPr>
        <dsp:cNvPr id="0" name=""/>
        <dsp:cNvSpPr/>
      </dsp:nvSpPr>
      <dsp:spPr>
        <a:xfrm>
          <a:off x="1010319" y="4375728"/>
          <a:ext cx="6515191" cy="874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576" tIns="92576" rIns="92576" bIns="9257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Improved efficiency in Excel especially with functions regression analysis, creating scatter plots and calculating confidence levels</a:t>
          </a:r>
          <a:endParaRPr lang="en-US" sz="1600" kern="1200"/>
        </a:p>
      </dsp:txBody>
      <dsp:txXfrm>
        <a:off x="1010319" y="4375728"/>
        <a:ext cx="6515191" cy="874735"/>
      </dsp:txXfrm>
    </dsp:sp>
    <dsp:sp modelId="{93C59748-7B47-437F-8845-0F64FFC83DFD}">
      <dsp:nvSpPr>
        <dsp:cNvPr id="0" name=""/>
        <dsp:cNvSpPr/>
      </dsp:nvSpPr>
      <dsp:spPr>
        <a:xfrm>
          <a:off x="0" y="5469147"/>
          <a:ext cx="7525511" cy="8747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4A7D89-5B62-4DB0-8671-BD31E0F4EC5E}">
      <dsp:nvSpPr>
        <dsp:cNvPr id="0" name=""/>
        <dsp:cNvSpPr/>
      </dsp:nvSpPr>
      <dsp:spPr>
        <a:xfrm>
          <a:off x="264607" y="5665963"/>
          <a:ext cx="481104" cy="48110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61279-BA25-45CA-B7DC-0EEC989BA995}">
      <dsp:nvSpPr>
        <dsp:cNvPr id="0" name=""/>
        <dsp:cNvSpPr/>
      </dsp:nvSpPr>
      <dsp:spPr>
        <a:xfrm>
          <a:off x="1010319" y="5469147"/>
          <a:ext cx="6515191" cy="874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576" tIns="92576" rIns="92576" bIns="9257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Team members had varying levels of excel knowledge, leading to manual calculations instead of using built in functions, which caused delays and took extra time to learn</a:t>
          </a:r>
          <a:endParaRPr lang="en-US" sz="1600" kern="1200" dirty="0"/>
        </a:p>
      </dsp:txBody>
      <dsp:txXfrm>
        <a:off x="1010319" y="5469147"/>
        <a:ext cx="6515191" cy="8747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E1159-4945-DD4C-9977-CD9E0F186709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8EF91-92BA-B445-A24D-FB961B5E8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3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• </a:t>
            </a:r>
            <a:r>
              <a:rPr lang="en-GB" dirty="0"/>
              <a:t>found the difference between predicted y values and actual y values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• created a scatter plot graph to display the residuals To make our model easier to analyse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•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• </a:t>
            </a:r>
            <a:r>
              <a:rPr lang="en-GB"/>
              <a:t>we can see a </a:t>
            </a:r>
            <a:r>
              <a:rPr lang="en-GB" dirty="0"/>
              <a:t>fairly obvious trend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• As </a:t>
            </a:r>
            <a:r>
              <a:rPr lang="en-GB"/>
              <a:t>our </a:t>
            </a:r>
            <a:r>
              <a:rPr lang="en-GB" dirty="0"/>
              <a:t>explanatory variable increases</a:t>
            </a:r>
            <a:r>
              <a:rPr lang="en-GB"/>
              <a:t>, </a:t>
            </a:r>
            <a:r>
              <a:rPr lang="en-GB" dirty="0"/>
              <a:t>our variability in the residuals also increases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• Suggests </a:t>
            </a:r>
            <a:r>
              <a:rPr lang="en-GB"/>
              <a:t>that there is </a:t>
            </a:r>
            <a:r>
              <a:rPr lang="en-GB" dirty="0"/>
              <a:t>a factor we haven’t taken into account, and </a:t>
            </a:r>
            <a:r>
              <a:rPr lang="en-GB"/>
              <a:t>our model</a:t>
            </a:r>
            <a:r>
              <a:rPr lang="en-GB" dirty="0"/>
              <a:t> could be improved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8EF91-92BA-B445-A24D-FB961B5E83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11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673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81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854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338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33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263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578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175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92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35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217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6874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767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945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790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965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03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754E0-E563-DAB5-5FB5-BD75D883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CCA4C-D25B-A6CD-EA3E-D74FD5B10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7E7C7-4E5D-A5E9-C937-118A9F3A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516A9-C7EB-04C3-BA7B-6977E79CA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5337A-E3B0-5F63-1220-6FCFE9D4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366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8610736-5441-4380-AEA8-401824B9EBE5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67D057F-2DE9-4ACB-B823-A520BBD57E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58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fEAEmdFOBo" TargetMode="External"/><Relationship Id="rId7" Type="http://schemas.openxmlformats.org/officeDocument/2006/relationships/hyperlink" Target="https://www.youtube.com/watch?v=DCgSynk_hSQ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ww.youtube.com/watch?v=1xD_pdAnU0c" TargetMode="External"/><Relationship Id="rId5" Type="http://schemas.openxmlformats.org/officeDocument/2006/relationships/hyperlink" Target="https://www.youtube.com/watch?v=EHnkc6evkiQ" TargetMode="External"/><Relationship Id="rId4" Type="http://schemas.openxmlformats.org/officeDocument/2006/relationships/hyperlink" Target="https://www.youtube.com/watch?v=KcCA061tpy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4E50CAEE-CAC0-4F18-9593-F09A3338C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DA77D5-12C4-446D-AC72-A514960A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0213"/>
          <a:stretch/>
        </p:blipFill>
        <p:spPr>
          <a:xfrm>
            <a:off x="8199690" y="290557"/>
            <a:ext cx="3992310" cy="3905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E04E4F-6B32-4651-ACE0-DACABF1FC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20" r="54326" b="73832"/>
          <a:stretch/>
        </p:blipFill>
        <p:spPr>
          <a:xfrm>
            <a:off x="4581330" y="0"/>
            <a:ext cx="6762408" cy="28677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00C698-8E66-BBE7-4FC9-B3211248C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i="1"/>
              <a:t>Project 6 – Linear Regression for Marketing</a:t>
            </a:r>
            <a:endParaRPr lang="en-GB" i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F8BF5-9945-3E33-3529-9BF32B154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MA0009 Project Presentation, 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10/12/2024</a:t>
            </a:r>
          </a:p>
          <a:p>
            <a:pPr algn="l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members: 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Mustafa Iqbal, Aliyah Zaman, Silvia </a:t>
            </a:r>
            <a:r>
              <a:rPr lang="en-U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Botoaca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Deividas Talocka and Baurneegan </a:t>
            </a:r>
            <a:r>
              <a:rPr lang="en-U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Kanesalingam</a:t>
            </a:r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leader: Deividas Talocka</a:t>
            </a:r>
            <a:endParaRPr lang="en-GB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D4F2B0-7771-46FC-9763-240E8F55F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73" t="81531" r="19879"/>
          <a:stretch/>
        </p:blipFill>
        <p:spPr>
          <a:xfrm>
            <a:off x="10246407" y="5429242"/>
            <a:ext cx="1945594" cy="1428758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64F387-6750-4AFF-8A10-65C64D31E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66" t="75007" r="30510"/>
          <a:stretch/>
        </p:blipFill>
        <p:spPr>
          <a:xfrm>
            <a:off x="9795659" y="4064996"/>
            <a:ext cx="2716669" cy="1658803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39958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DE5F7-460A-EF15-83F9-826583D84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n-GB" sz="4400"/>
              <a:t>Table of contents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2C0648-677F-5E12-BFC2-9EE114D403A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27924657"/>
              </p:ext>
            </p:extLst>
          </p:nvPr>
        </p:nvGraphicFramePr>
        <p:xfrm>
          <a:off x="4542718" y="692350"/>
          <a:ext cx="7235223" cy="5473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30029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6F4DB63-A191-45D9-8A53-9B18F8FE2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0BB8E50-9569-495A-A548-A5AD5055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F26545-4582-4DBE-973B-ED1BC9CBD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91"/>
            <a:ext cx="12188952" cy="2286002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889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47A6981-7EBF-4F2B-BD20-3124170BF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037" b="73004"/>
          <a:stretch/>
        </p:blipFill>
        <p:spPr>
          <a:xfrm>
            <a:off x="77277" y="-1"/>
            <a:ext cx="1272021" cy="8411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497DCFF-C2AA-4065-BFCF-1E7535B0D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24" t="86960" r="29150"/>
          <a:stretch/>
        </p:blipFill>
        <p:spPr>
          <a:xfrm>
            <a:off x="11061755" y="-1"/>
            <a:ext cx="1127197" cy="5539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5E1159C-5B31-49A8-A933-C1179723C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59" t="72411" r="-74" b="13790"/>
          <a:stretch/>
        </p:blipFill>
        <p:spPr>
          <a:xfrm>
            <a:off x="77277" y="1444827"/>
            <a:ext cx="1096303" cy="841175"/>
          </a:xfrm>
          <a:custGeom>
            <a:avLst/>
            <a:gdLst>
              <a:gd name="connsiteX0" fmla="*/ 0 w 915864"/>
              <a:gd name="connsiteY0" fmla="*/ 0 h 702727"/>
              <a:gd name="connsiteX1" fmla="*/ 915864 w 915864"/>
              <a:gd name="connsiteY1" fmla="*/ 0 h 702727"/>
              <a:gd name="connsiteX2" fmla="*/ 915864 w 915864"/>
              <a:gd name="connsiteY2" fmla="*/ 702727 h 702727"/>
              <a:gd name="connsiteX3" fmla="*/ 176126 w 915864"/>
              <a:gd name="connsiteY3" fmla="*/ 702727 h 702727"/>
              <a:gd name="connsiteX4" fmla="*/ 175195 w 915864"/>
              <a:gd name="connsiteY4" fmla="*/ 702179 h 702727"/>
              <a:gd name="connsiteX5" fmla="*/ 45222 w 915864"/>
              <a:gd name="connsiteY5" fmla="*/ 592499 h 702727"/>
              <a:gd name="connsiteX6" fmla="*/ 0 w 915864"/>
              <a:gd name="connsiteY6" fmla="*/ 531614 h 702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864" h="702727">
                <a:moveTo>
                  <a:pt x="0" y="0"/>
                </a:moveTo>
                <a:lnTo>
                  <a:pt x="915864" y="0"/>
                </a:lnTo>
                <a:lnTo>
                  <a:pt x="915864" y="702727"/>
                </a:lnTo>
                <a:lnTo>
                  <a:pt x="176126" y="702727"/>
                </a:lnTo>
                <a:lnTo>
                  <a:pt x="175195" y="702179"/>
                </a:lnTo>
                <a:cubicBezTo>
                  <a:pt x="126139" y="669596"/>
                  <a:pt x="82453" y="632772"/>
                  <a:pt x="45222" y="592499"/>
                </a:cubicBezTo>
                <a:lnTo>
                  <a:pt x="0" y="531614"/>
                </a:lnTo>
                <a:close/>
              </a:path>
            </a:pathLst>
          </a:cu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A9BD01A-0D38-48EA-98E5-BB66386F3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24" t="71774" r="2564"/>
          <a:stretch/>
        </p:blipFill>
        <p:spPr>
          <a:xfrm>
            <a:off x="11036686" y="1071807"/>
            <a:ext cx="1155314" cy="12300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557AF4-CF3F-8E2E-DAD5-ABB39973C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439924"/>
            <a:ext cx="10364451" cy="1437937"/>
          </a:xfrm>
        </p:spPr>
        <p:txBody>
          <a:bodyPr>
            <a:normAutofit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Project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58E12-4089-B334-855C-6EC0FE3B5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63" y="3191653"/>
            <a:ext cx="10363826" cy="3085322"/>
          </a:xfrm>
        </p:spPr>
        <p:txBody>
          <a:bodyPr anchor="ctr">
            <a:noAutofit/>
          </a:bodyPr>
          <a:lstStyle/>
          <a:p>
            <a:r>
              <a:rPr lang="en-GB" sz="1600" i="1" dirty="0"/>
              <a:t>Create a scatter plot to examine the relationship between TV advertising expenditure and sales. Justify choice of explanatory and response variables.</a:t>
            </a:r>
          </a:p>
          <a:p>
            <a:r>
              <a:rPr lang="en-GB" sz="1600" i="1" dirty="0"/>
              <a:t>Calculate the correlation coefficient and derive the regression line equation, using it to make predictions and interpret the coefficients and coefficient of determination.</a:t>
            </a:r>
          </a:p>
          <a:p>
            <a:r>
              <a:rPr lang="en-GB" sz="1600" i="1" dirty="0"/>
              <a:t>Assess the validity of the regression model by analysing the residuals for any patterns or inconsistencies.</a:t>
            </a:r>
          </a:p>
          <a:p>
            <a:r>
              <a:rPr lang="en-GB" sz="1600" i="1" dirty="0"/>
              <a:t>Construct 95% and 99% confidence intervals for the data and explain why the 99% interval is wider.</a:t>
            </a:r>
          </a:p>
          <a:p>
            <a:r>
              <a:rPr lang="en-GB" sz="1600" i="1" dirty="0"/>
              <a:t>Evaluate the claim that the average expenditure on TV advertising by clients is £14,000 using appropriate statistical tests.</a:t>
            </a:r>
          </a:p>
          <a:p>
            <a:endParaRPr lang="en-GB" sz="1600" i="1" dirty="0"/>
          </a:p>
        </p:txBody>
      </p:sp>
    </p:spTree>
    <p:extLst>
      <p:ext uri="{BB962C8B-B14F-4D97-AF65-F5344CB8AC3E}">
        <p14:creationId xmlns:p14="http://schemas.microsoft.com/office/powerpoint/2010/main" val="10298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E3254AE-C4CD-426D-A6E8-7FA13B0F8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hat&#10;&#10;Description automatically generated">
            <a:extLst>
              <a:ext uri="{FF2B5EF4-FFF2-40B4-BE49-F238E27FC236}">
                <a16:creationId xmlns:a16="http://schemas.microsoft.com/office/drawing/2014/main" id="{CA3DC998-1D93-62D6-B582-1AC90D28B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1837715"/>
            <a:ext cx="5719841" cy="3975289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C53434-A0C7-4A81-8EB0-D460DAD9B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66773B-6C75-D938-FDFF-B3B324A3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20769"/>
            <a:ext cx="10364451" cy="1596177"/>
          </a:xfrm>
        </p:spPr>
        <p:txBody>
          <a:bodyPr>
            <a:normAutofit/>
          </a:bodyPr>
          <a:lstStyle/>
          <a:p>
            <a:r>
              <a:rPr lang="en-US" sz="4800" dirty="0"/>
              <a:t>How we did it </a:t>
            </a:r>
            <a:endParaRPr lang="en-GB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79995-31EC-7887-403F-C2B7C5A5D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716946"/>
            <a:ext cx="4860493" cy="3424107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i="1" dirty="0"/>
              <a:t>We divided the tasks into five tasks, with each group member handling one task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i="1" dirty="0"/>
              <a:t>Task 1 (scatterplot) – Deividas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i="1" dirty="0"/>
              <a:t>Task 2 (regression analysis) – Silvia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i="1" dirty="0"/>
              <a:t>Task 3 (residual analysis) – baurneegan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i="1" dirty="0"/>
              <a:t>Task 4 (confidence intervals) –mustafa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i="1" dirty="0"/>
              <a:t>Task 5 (hypothesis testing) – Aliyah</a:t>
            </a:r>
          </a:p>
          <a:p>
            <a:pPr>
              <a:lnSpc>
                <a:spcPct val="110000"/>
              </a:lnSpc>
            </a:pPr>
            <a:r>
              <a:rPr lang="en-US" sz="1800" i="1" dirty="0"/>
              <a:t>We used WhatsApp to communicate, share updates and ensure everyone stayed on track</a:t>
            </a:r>
            <a:endParaRPr lang="en-GB" sz="1800" i="1" dirty="0"/>
          </a:p>
        </p:txBody>
      </p:sp>
    </p:spTree>
    <p:extLst>
      <p:ext uri="{BB962C8B-B14F-4D97-AF65-F5344CB8AC3E}">
        <p14:creationId xmlns:p14="http://schemas.microsoft.com/office/powerpoint/2010/main" val="264798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446F2B05-D14A-46C1-B94D-81BAFA34C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DC21F734-A85A-4FEA-8CB8-6C72B8195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0D095E-3CD8-4496-A248-5BB2016A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444" y="423672"/>
            <a:ext cx="7030168" cy="1428310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scatterplot and explanatory/response variables</a:t>
            </a:r>
            <a:endParaRPr lang="en-GB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7001D-30D7-7260-BD73-2A3B30C1D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4400" y="2595692"/>
            <a:ext cx="6499480" cy="259320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GB" sz="1800" i="1" dirty="0"/>
              <a:t>Used excel to plot a scatter chart of tv ads vs sales, added axis titles and included a trendline (see figure 1)</a:t>
            </a:r>
          </a:p>
          <a:p>
            <a:pPr>
              <a:lnSpc>
                <a:spcPct val="110000"/>
              </a:lnSpc>
            </a:pPr>
            <a:r>
              <a:rPr lang="en-GB" sz="1800" i="1" dirty="0"/>
              <a:t>Scatter plot indicates a positive relationship: higher ad spend generally leads to increased sales</a:t>
            </a:r>
          </a:p>
          <a:p>
            <a:pPr>
              <a:lnSpc>
                <a:spcPct val="110000"/>
              </a:lnSpc>
            </a:pPr>
            <a:r>
              <a:rPr lang="en-GB" sz="1800" i="1" dirty="0"/>
              <a:t>Tv advertising expenditure is the explanatory variable (controllable factor) and Sales is the response variable (affected by advertising spend)</a:t>
            </a:r>
          </a:p>
          <a:p>
            <a:pPr>
              <a:lnSpc>
                <a:spcPct val="110000"/>
              </a:lnSpc>
            </a:pPr>
            <a:endParaRPr lang="en-GB" sz="1800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50EF68-BB9D-C954-E85C-A0E69C382397}"/>
              </a:ext>
            </a:extLst>
          </p:cNvPr>
          <p:cNvSpPr txBox="1">
            <a:spLocks/>
          </p:cNvSpPr>
          <p:nvPr/>
        </p:nvSpPr>
        <p:spPr>
          <a:xfrm>
            <a:off x="2246957" y="6239483"/>
            <a:ext cx="965142" cy="469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1600" i="1"/>
              <a:t>Figure 1</a:t>
            </a:r>
            <a:endParaRPr lang="en-GB" sz="160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AC735C1-9A5E-4BC8-11BB-D007D4F2FE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8754486"/>
              </p:ext>
            </p:extLst>
          </p:nvPr>
        </p:nvGraphicFramePr>
        <p:xfrm>
          <a:off x="410000" y="618517"/>
          <a:ext cx="4639056" cy="5596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53848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095E-3CD8-4496-A248-5BB2016A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543391"/>
            <a:ext cx="10364451" cy="664621"/>
          </a:xfrm>
        </p:spPr>
        <p:txBody>
          <a:bodyPr/>
          <a:lstStyle/>
          <a:p>
            <a:r>
              <a:rPr lang="en-US" i="1" dirty="0"/>
              <a:t>Regression Analysis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9844AF-3D93-9FD6-3C1E-2980828E336C}"/>
              </a:ext>
            </a:extLst>
          </p:cNvPr>
          <p:cNvSpPr txBox="1"/>
          <p:nvPr/>
        </p:nvSpPr>
        <p:spPr>
          <a:xfrm>
            <a:off x="301905" y="1710281"/>
            <a:ext cx="5791134" cy="44319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Correlation Coefficient: r = 0.7822</a:t>
            </a:r>
          </a:p>
          <a:p>
            <a:pPr lvl="1"/>
            <a:endParaRPr lang="en-US" sz="600">
              <a:ea typeface="+mn-lt"/>
              <a:cs typeface="+mn-lt"/>
            </a:endParaRPr>
          </a:p>
          <a:p>
            <a:pPr lvl="1"/>
            <a:r>
              <a:rPr lang="en-US" sz="1600" dirty="0">
                <a:ea typeface="+mn-lt"/>
                <a:cs typeface="+mn-lt"/>
              </a:rPr>
              <a:t>The explanatory variable (TV ads) and response variable (Sales) have a </a:t>
            </a:r>
            <a:r>
              <a:rPr lang="en-US" sz="1600" b="1" dirty="0">
                <a:ea typeface="+mn-lt"/>
                <a:cs typeface="+mn-lt"/>
              </a:rPr>
              <a:t>strong positive</a:t>
            </a:r>
            <a:r>
              <a:rPr lang="en-US" sz="1600" dirty="0">
                <a:ea typeface="+mn-lt"/>
                <a:cs typeface="+mn-lt"/>
              </a:rPr>
              <a:t> correlation.</a:t>
            </a:r>
            <a:endParaRPr lang="en-US" sz="1600"/>
          </a:p>
          <a:p>
            <a:pPr lvl="1"/>
            <a:endParaRPr lang="en-US" sz="1400"/>
          </a:p>
          <a:p>
            <a:pPr lvl="1"/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Equation of the Regression Line: y = </a:t>
            </a:r>
            <a:r>
              <a:rPr lang="en-US" dirty="0">
                <a:ea typeface="+mn-lt"/>
                <a:cs typeface="+mn-lt"/>
              </a:rPr>
              <a:t>0.0475x + 7.0326</a:t>
            </a:r>
          </a:p>
          <a:p>
            <a:pPr lvl="1"/>
            <a:endParaRPr lang="en-US" sz="600" b="1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slope/b:</a:t>
            </a:r>
            <a:r>
              <a:rPr lang="en-US" sz="1600" dirty="0">
                <a:ea typeface="+mn-lt"/>
                <a:cs typeface="+mn-lt"/>
              </a:rPr>
              <a:t> For a 1 hundred pounds (£100) increase in the amount spent on TV ads by client, product sales increase by </a:t>
            </a:r>
            <a:r>
              <a:rPr lang="en-US" sz="1600" dirty="0">
                <a:highlight>
                  <a:srgbClr val="8FB28C"/>
                </a:highlight>
                <a:ea typeface="+mn-lt"/>
                <a:cs typeface="+mn-lt"/>
              </a:rPr>
              <a:t>0.0475 thousands (47.5).</a:t>
            </a:r>
            <a:endParaRPr lang="en-US" sz="1600" dirty="0">
              <a:highlight>
                <a:srgbClr val="8FB28C"/>
              </a:highlight>
            </a:endParaRPr>
          </a:p>
          <a:p>
            <a:pPr lvl="1"/>
            <a:endParaRPr lang="en-US" sz="60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y-intercept/a:</a:t>
            </a:r>
            <a:r>
              <a:rPr lang="en-US" sz="1600" dirty="0">
                <a:ea typeface="+mn-lt"/>
                <a:cs typeface="+mn-lt"/>
              </a:rPr>
              <a:t> Where the client has spent £0 on TV ads, product sales are predicted to be </a:t>
            </a:r>
            <a:r>
              <a:rPr lang="en-US" sz="1600" dirty="0">
                <a:highlight>
                  <a:srgbClr val="8FB28B"/>
                </a:highlight>
                <a:ea typeface="+mn-lt"/>
                <a:cs typeface="+mn-lt"/>
              </a:rPr>
              <a:t>7.0326 thousands (7,032.6).</a:t>
            </a:r>
          </a:p>
          <a:p>
            <a:pPr lvl="1"/>
            <a:endParaRPr lang="en-US" sz="1400" dirty="0">
              <a:highlight>
                <a:srgbClr val="8FB28B"/>
              </a:highlight>
            </a:endParaRPr>
          </a:p>
          <a:p>
            <a:pPr lvl="1"/>
            <a:endParaRPr lang="en-US" sz="1400" dirty="0">
              <a:highlight>
                <a:srgbClr val="8FB28B"/>
              </a:highlight>
              <a:latin typeface="Tw Cen MT" panose="020B0602020104020603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TW Cen MT"/>
              </a:rPr>
              <a:t>Correlation of Determination: r</a:t>
            </a:r>
            <a:r>
              <a:rPr lang="en-US" baseline="30000" dirty="0">
                <a:latin typeface="TW Cen MT"/>
              </a:rPr>
              <a:t>2</a:t>
            </a:r>
            <a:r>
              <a:rPr lang="en-US" dirty="0">
                <a:latin typeface="TW Cen MT"/>
              </a:rPr>
              <a:t> = 0.6119</a:t>
            </a:r>
          </a:p>
          <a:p>
            <a:pPr lvl="1"/>
            <a:endParaRPr lang="en-US" sz="600" dirty="0">
              <a:latin typeface="TW Cen MT"/>
            </a:endParaRPr>
          </a:p>
          <a:p>
            <a:pPr lvl="1"/>
            <a:r>
              <a:rPr lang="en-US" sz="1600" dirty="0">
                <a:latin typeface="TW Cen MT"/>
              </a:rPr>
              <a:t>61.19% of variation in Sales is due to change in the amount spent on TV ads, and 38.81% is accredited to other factors.</a:t>
            </a:r>
            <a:endParaRPr lang="en-US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626D1-8288-5B5E-4ECC-50A5977ACA19}"/>
              </a:ext>
            </a:extLst>
          </p:cNvPr>
          <p:cNvSpPr txBox="1"/>
          <p:nvPr/>
        </p:nvSpPr>
        <p:spPr>
          <a:xfrm>
            <a:off x="6763045" y="2049155"/>
            <a:ext cx="4769927" cy="374740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 dirty="0"/>
              <a:t>Predictions can be made using:</a:t>
            </a:r>
          </a:p>
          <a:p>
            <a:endParaRPr lang="en-US" sz="600" u="sng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Interpolation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dirty="0"/>
              <a:t>e.g. </a:t>
            </a:r>
            <a:r>
              <a:rPr lang="en-US" sz="1600" dirty="0">
                <a:ea typeface="+mn-lt"/>
                <a:cs typeface="+mn-lt"/>
              </a:rPr>
              <a:t>x = 143.25</a:t>
            </a:r>
          </a:p>
          <a:p>
            <a:pPr lvl="1"/>
            <a:r>
              <a:rPr lang="en-US" sz="1600" dirty="0">
                <a:ea typeface="+mn-lt"/>
                <a:cs typeface="+mn-lt"/>
              </a:rPr>
              <a:t>y = 0.04753(143.25) + 7.0326 = </a:t>
            </a:r>
            <a:r>
              <a:rPr lang="en-US" sz="1600" dirty="0">
                <a:highlight>
                  <a:srgbClr val="8FB28B"/>
                </a:highlight>
                <a:ea typeface="+mn-lt"/>
                <a:cs typeface="+mn-lt"/>
              </a:rPr>
              <a:t>6.8087 thousands (6,808.7)</a:t>
            </a:r>
          </a:p>
          <a:p>
            <a:pPr lvl="1"/>
            <a:r>
              <a:rPr lang="en-US" sz="1600" dirty="0">
                <a:ea typeface="+mn-lt"/>
                <a:cs typeface="+mn-lt"/>
              </a:rPr>
              <a:t>If the client spend £14,325 on TV ads, product sales are predicted to be 6,808.7.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b="1" dirty="0"/>
              <a:t>Extrapolation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dirty="0"/>
              <a:t>e.g. x = 550</a:t>
            </a:r>
          </a:p>
          <a:p>
            <a:pPr lvl="1"/>
            <a:r>
              <a:rPr lang="en-US" sz="1600" dirty="0"/>
              <a:t>y = </a:t>
            </a:r>
            <a:r>
              <a:rPr lang="en-US" sz="1600" dirty="0">
                <a:ea typeface="+mn-lt"/>
                <a:cs typeface="+mn-lt"/>
              </a:rPr>
              <a:t>0.04753(550) + 7.0326 = </a:t>
            </a:r>
            <a:r>
              <a:rPr lang="en-US" sz="1600" dirty="0">
                <a:highlight>
                  <a:srgbClr val="8FB28B"/>
                </a:highlight>
                <a:ea typeface="+mn-lt"/>
                <a:cs typeface="+mn-lt"/>
              </a:rPr>
              <a:t>33.1741thousands (33,174.1)</a:t>
            </a:r>
          </a:p>
          <a:p>
            <a:pPr lvl="1"/>
            <a:r>
              <a:rPr lang="en-US" sz="1600" dirty="0">
                <a:ea typeface="+mn-lt"/>
                <a:cs typeface="+mn-lt"/>
              </a:rPr>
              <a:t>If the client spends £55,000 on TV ads, product sales are predicted to be 33,174.1.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06231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85D9-0B12-4347-1EB5-2016F73C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109" y="157955"/>
            <a:ext cx="10336116" cy="767577"/>
          </a:xfrm>
        </p:spPr>
        <p:txBody>
          <a:bodyPr/>
          <a:lstStyle/>
          <a:p>
            <a:r>
              <a:rPr lang="en-US" i="1"/>
              <a:t>Residual analysis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22051-4506-9DFE-E0FA-CB460832C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109" y="1137267"/>
            <a:ext cx="3469689" cy="888368"/>
          </a:xfrm>
        </p:spPr>
        <p:txBody>
          <a:bodyPr>
            <a:normAutofit/>
          </a:bodyPr>
          <a:lstStyle/>
          <a:p>
            <a:r>
              <a:rPr lang="en-GB" sz="1200" i="1" dirty="0"/>
              <a:t>Residuals were found using previously determined formula to find expected y values </a:t>
            </a:r>
          </a:p>
          <a:p>
            <a:endParaRPr lang="en-GB" sz="1200" i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A6AEA65-782E-558C-6E45-0D06F64D7D33}"/>
              </a:ext>
              <a:ext uri="{147F2762-F138-4A5C-976F-8EAC2B608ADB}">
                <a16:predDERef xmlns:a16="http://schemas.microsoft.com/office/drawing/2014/main" pred="{8AC735C1-9A5E-4BC8-11BB-D007D4F2FE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3137599"/>
              </p:ext>
            </p:extLst>
          </p:nvPr>
        </p:nvGraphicFramePr>
        <p:xfrm>
          <a:off x="5235951" y="1534321"/>
          <a:ext cx="5879183" cy="3298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F593F73-087E-C860-023D-1809E820FF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835" r="67500" b="54074"/>
          <a:stretch/>
        </p:blipFill>
        <p:spPr>
          <a:xfrm>
            <a:off x="1049931" y="1912985"/>
            <a:ext cx="3227110" cy="162484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03BE577-C6BB-D65F-4A92-85A5F2E44F81}"/>
              </a:ext>
            </a:extLst>
          </p:cNvPr>
          <p:cNvSpPr txBox="1">
            <a:spLocks/>
          </p:cNvSpPr>
          <p:nvPr/>
        </p:nvSpPr>
        <p:spPr>
          <a:xfrm>
            <a:off x="5370708" y="1137267"/>
            <a:ext cx="5879183" cy="888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i="1" dirty="0"/>
              <a:t>Using these residuals, I created a graph to plot them in relation to the explanatory variable.</a:t>
            </a:r>
          </a:p>
          <a:p>
            <a:endParaRPr lang="en-GB" sz="1200" i="1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756BEFA-334F-DA2A-6B03-CC5575EB9527}"/>
              </a:ext>
            </a:extLst>
          </p:cNvPr>
          <p:cNvSpPr txBox="1">
            <a:spLocks/>
          </p:cNvSpPr>
          <p:nvPr/>
        </p:nvSpPr>
        <p:spPr>
          <a:xfrm>
            <a:off x="4906652" y="2237508"/>
            <a:ext cx="3469689" cy="888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GB" sz="1200" i="1"/>
          </a:p>
        </p:txBody>
      </p:sp>
    </p:spTree>
    <p:extLst>
      <p:ext uri="{BB962C8B-B14F-4D97-AF65-F5344CB8AC3E}">
        <p14:creationId xmlns:p14="http://schemas.microsoft.com/office/powerpoint/2010/main" val="179834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626B03-5680-9BBC-1A5A-6BC25B42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F793FB-6032-4DFF-3F74-9F71DF55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413" y="251592"/>
            <a:ext cx="5857875" cy="1573863"/>
          </a:xfrm>
        </p:spPr>
        <p:txBody>
          <a:bodyPr>
            <a:normAutofit/>
          </a:bodyPr>
          <a:lstStyle/>
          <a:p>
            <a:pPr algn="l"/>
            <a:r>
              <a:rPr lang="en-US" sz="2500" i="1" dirty="0"/>
              <a:t>95% and 99% Confidence intervals</a:t>
            </a:r>
            <a:endParaRPr lang="en-GB" sz="2500" dirty="0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57037D6B-6C6A-BB22-74EF-E26B7964C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614" y="1864926"/>
            <a:ext cx="5214411" cy="3881309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GB" sz="1700" i="1" baseline="0" dirty="0"/>
              <a:t>Determined sample mean (x bar) and sample standard deviation (s) using excel functions(figures 3 and 4)</a:t>
            </a:r>
          </a:p>
          <a:p>
            <a:pPr>
              <a:lnSpc>
                <a:spcPct val="110000"/>
              </a:lnSpc>
            </a:pPr>
            <a:r>
              <a:rPr lang="en-GB" sz="1700" i="1" dirty="0"/>
              <a:t>Calculated margin of error (me) by multiplying t-critical values (95% and 99%) by sample standard deviation over square root of sample size (figure 5)</a:t>
            </a:r>
          </a:p>
          <a:p>
            <a:pPr>
              <a:lnSpc>
                <a:spcPct val="110000"/>
              </a:lnSpc>
            </a:pPr>
            <a:r>
              <a:rPr lang="en-GB" sz="1700" i="1" dirty="0"/>
              <a:t>Added and subtracted me from the mean to find the confidence intervals: 95% [134.998; 159.087] and 99% [131.10055; 162.98445]</a:t>
            </a:r>
          </a:p>
          <a:p>
            <a:pPr>
              <a:lnSpc>
                <a:spcPct val="110000"/>
              </a:lnSpc>
            </a:pPr>
            <a:r>
              <a:rPr lang="en-GB" sz="1700" i="1" dirty="0"/>
              <a:t>The 99% interval is wider due to the trade-off between higher confidence and a larger margin of error (figure 2)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787B9AB-4D57-DBBB-CAAB-B8165FF4B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47" y="2312357"/>
            <a:ext cx="2256589" cy="46906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A2D66D5-E963-EC79-BBD7-C4CDB1BA9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1" y="1312488"/>
            <a:ext cx="2234233" cy="46906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3E6EDF8-7B14-007B-B7A7-C85D3ABE2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3555" y="2312357"/>
            <a:ext cx="2572755" cy="469066"/>
          </a:xfrm>
          <a:prstGeom prst="rect">
            <a:avLst/>
          </a:prstGeom>
        </p:spPr>
      </p:pic>
      <p:sp>
        <p:nvSpPr>
          <p:cNvPr id="63" name="Title 1">
            <a:extLst>
              <a:ext uri="{FF2B5EF4-FFF2-40B4-BE49-F238E27FC236}">
                <a16:creationId xmlns:a16="http://schemas.microsoft.com/office/drawing/2014/main" id="{AD2A1FEF-4C9B-6D3E-71DE-AC5D7B32EE55}"/>
              </a:ext>
            </a:extLst>
          </p:cNvPr>
          <p:cNvSpPr txBox="1">
            <a:spLocks/>
          </p:cNvSpPr>
          <p:nvPr/>
        </p:nvSpPr>
        <p:spPr>
          <a:xfrm>
            <a:off x="3123780" y="5977760"/>
            <a:ext cx="965142" cy="469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i="1" dirty="0"/>
              <a:t>Figure 2</a:t>
            </a:r>
            <a:endParaRPr lang="en-GB" sz="1600" dirty="0"/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F3D2EED1-16F9-9665-C50A-95169BDC5E65}"/>
              </a:ext>
            </a:extLst>
          </p:cNvPr>
          <p:cNvSpPr txBox="1">
            <a:spLocks/>
          </p:cNvSpPr>
          <p:nvPr/>
        </p:nvSpPr>
        <p:spPr>
          <a:xfrm>
            <a:off x="822836" y="1744446"/>
            <a:ext cx="965142" cy="469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i="1" dirty="0"/>
              <a:t>Figure 3</a:t>
            </a:r>
            <a:endParaRPr lang="en-GB" sz="1600" dirty="0"/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56F7B3E2-6B86-65F1-64C2-A62E96303CB9}"/>
              </a:ext>
            </a:extLst>
          </p:cNvPr>
          <p:cNvSpPr txBox="1">
            <a:spLocks/>
          </p:cNvSpPr>
          <p:nvPr/>
        </p:nvSpPr>
        <p:spPr>
          <a:xfrm>
            <a:off x="822836" y="2693817"/>
            <a:ext cx="965142" cy="469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i="1" dirty="0"/>
              <a:t>Figure 4</a:t>
            </a:r>
            <a:endParaRPr lang="en-GB" sz="1600" dirty="0"/>
          </a:p>
        </p:txBody>
      </p:sp>
      <p:sp>
        <p:nvSpPr>
          <p:cNvPr id="68" name="Title 1">
            <a:extLst>
              <a:ext uri="{FF2B5EF4-FFF2-40B4-BE49-F238E27FC236}">
                <a16:creationId xmlns:a16="http://schemas.microsoft.com/office/drawing/2014/main" id="{A4BE7A60-1059-41DE-4040-9586323F58AC}"/>
              </a:ext>
            </a:extLst>
          </p:cNvPr>
          <p:cNvSpPr txBox="1">
            <a:spLocks/>
          </p:cNvSpPr>
          <p:nvPr/>
        </p:nvSpPr>
        <p:spPr>
          <a:xfrm>
            <a:off x="3491179" y="2698795"/>
            <a:ext cx="965142" cy="469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i="1" dirty="0"/>
              <a:t>Figure 5</a:t>
            </a:r>
            <a:endParaRPr lang="en-GB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89DEF-8024-7233-7F40-68D37F80EE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827" y="3342935"/>
            <a:ext cx="5478154" cy="258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03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A76BE-7152-A9C6-96F8-43B3A3F1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7CD03-8C83-0028-B283-ED8CCE591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88749"/>
            <a:ext cx="10364451" cy="1596177"/>
          </a:xfrm>
        </p:spPr>
        <p:txBody>
          <a:bodyPr/>
          <a:lstStyle/>
          <a:p>
            <a:r>
              <a:rPr lang="en-US" dirty="0"/>
              <a:t>hypothesis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F737D5-FA4C-C08C-8B6E-F316EC0DF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3767" y="1471044"/>
                <a:ext cx="11045172" cy="454170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ea typeface="+mn-lt"/>
                    <a:cs typeface="+mn-lt"/>
                  </a:rPr>
                  <a:t>The TV Guru CEO claims that the average sum spent on TV advertising by the firm’s clients is £14,000. We will be using a hypothesis test to assess the validity of this claim.</a:t>
                </a:r>
              </a:p>
              <a:p>
                <a:pPr>
                  <a:buClr>
                    <a:srgbClr val="000000"/>
                  </a:buClr>
                </a:pPr>
                <a:r>
                  <a:rPr lang="en-US" sz="1600" dirty="0">
                    <a:ea typeface="+mn-lt"/>
                    <a:cs typeface="+mn-lt"/>
                  </a:rPr>
                  <a:t>Null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ea typeface="+mn-lt"/>
                    <a:cs typeface="+mn-lt"/>
                  </a:rPr>
                  <a:t>): The average sum spent on TV advertising by the firm's clients is £14,000.</a:t>
                </a:r>
                <a:endParaRPr lang="en-US" sz="1600" b="1" dirty="0">
                  <a:ea typeface="+mn-lt"/>
                  <a:cs typeface="+mn-lt"/>
                </a:endParaRPr>
              </a:p>
              <a:p>
                <a:pPr>
                  <a:buClr>
                    <a:srgbClr val="000000"/>
                  </a:buClr>
                </a:pPr>
                <a:r>
                  <a:rPr lang="en-US" sz="1600" dirty="0">
                    <a:ea typeface="+mn-lt"/>
                    <a:cs typeface="+mn-lt"/>
                  </a:rPr>
                  <a:t>Alternative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𝐻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600" dirty="0">
                    <a:ea typeface="+mn-lt"/>
                    <a:cs typeface="+mn-lt"/>
                  </a:rPr>
                  <a:t>): The average sum spent on TV advertising by the firm's clients is not £14,000.</a:t>
                </a:r>
              </a:p>
              <a:p>
                <a:pPr marL="0" indent="0">
                  <a:buClr>
                    <a:srgbClr val="000000"/>
                  </a:buClr>
                  <a:buNone/>
                </a:pPr>
                <a:r>
                  <a:rPr lang="en-US" sz="1600" b="1" dirty="0">
                    <a:ea typeface="+mn-lt"/>
                    <a:cs typeface="+mn-lt"/>
                  </a:rPr>
                  <a:t>dataset</a:t>
                </a:r>
              </a:p>
              <a:p>
                <a:pPr marL="0" indent="0">
                  <a:buNone/>
                </a:pPr>
                <a:r>
                  <a:rPr lang="en-US" sz="1400" dirty="0">
                    <a:ea typeface="+mn-lt"/>
                    <a:cs typeface="+mn-lt"/>
                  </a:rPr>
                  <a:t>Sample size (N): 200</a:t>
                </a:r>
              </a:p>
              <a:p>
                <a:pPr marL="0" indent="0">
                  <a:buNone/>
                </a:pPr>
                <a:r>
                  <a:rPr lang="en-US" sz="1400" dirty="0">
                    <a:latin typeface="Tw Cen MT"/>
                    <a:ea typeface="Calibri"/>
                    <a:cs typeface="Calibri"/>
                  </a:rPr>
                  <a:t>Sample mean(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acc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</m:acc>
                    <m:r>
                      <a:rPr lang="en-GB" sz="16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)</m:t>
                    </m:r>
                  </m:oMath>
                </a14:m>
                <a:r>
                  <a:rPr lang="en-US" sz="1400" dirty="0">
                    <a:latin typeface="Tw Cen MT"/>
                    <a:ea typeface="Calibri"/>
                    <a:cs typeface="Calibri"/>
                  </a:rPr>
                  <a:t> 147.04 (hundreds of pounds)</a:t>
                </a:r>
              </a:p>
              <a:p>
                <a:pPr marL="0" indent="0">
                  <a:buNone/>
                </a:pPr>
                <a:r>
                  <a:rPr lang="en-US" sz="1400" dirty="0">
                    <a:ea typeface="Calibri"/>
                    <a:cs typeface="Calibri"/>
                  </a:rPr>
                  <a:t>Sample Standard deviation (S): 85.85 (hundreds of pounds)</a:t>
                </a:r>
              </a:p>
              <a:p>
                <a:pPr marL="0" indent="0">
                  <a:buNone/>
                </a:pPr>
                <a:r>
                  <a:rPr lang="en-US" sz="1400" dirty="0">
                    <a:ea typeface="Calibri"/>
                    <a:cs typeface="Calibri"/>
                  </a:rPr>
                  <a:t>Hypothesised population mean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dirty="0">
                            <a:ea typeface="Calibri"/>
                            <a:cs typeface="Calibri"/>
                            <a:sym typeface="Symbol" panose="05050102010706020507" pitchFamily="18" charset="2"/>
                          </a:rPr>
                          <m:t></m:t>
                        </m:r>
                      </m:e>
                      <m:sub>
                        <m:r>
                          <a:rPr lang="en-GB" sz="1400" b="0" i="1" dirty="0" smtClean="0">
                            <a:latin typeface="Cambria Math" panose="02040503050406030204" pitchFamily="18" charset="0"/>
                            <a:ea typeface="Calibri"/>
                            <a:cs typeface="Calibri"/>
                            <a:sym typeface="Symbol" panose="05050102010706020507" pitchFamily="18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>
                    <a:ea typeface="Calibri"/>
                    <a:cs typeface="Calibri"/>
                  </a:rPr>
                  <a:t>): 140 (hundreds of pounds)</a:t>
                </a:r>
              </a:p>
              <a:p>
                <a:pPr marL="0" indent="0">
                  <a:buNone/>
                </a:pPr>
                <a:r>
                  <a:rPr lang="en-US" sz="1400" dirty="0">
                    <a:ea typeface="Calibri"/>
                    <a:cs typeface="Calibri"/>
                  </a:rPr>
                  <a:t>Degrees of freedom (DF): 199</a:t>
                </a:r>
              </a:p>
              <a:p>
                <a:r>
                  <a:rPr lang="en-US" sz="1400" b="1" dirty="0">
                    <a:ea typeface="Calibri"/>
                    <a:cs typeface="Calibri"/>
                  </a:rPr>
                  <a:t>We will be using a t-Test because the population standard deviation (</a:t>
                </a:r>
                <a:r>
                  <a:rPr lang="en-US" sz="1400" b="1" dirty="0">
                    <a:ea typeface="Calibri"/>
                    <a:cs typeface="Calibri"/>
                    <a:sym typeface="Symbol" panose="05050102010706020507" pitchFamily="18" charset="2"/>
                  </a:rPr>
                  <a:t>) is unknown</a:t>
                </a:r>
                <a:endParaRPr lang="en-US" sz="1400" b="1" dirty="0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F737D5-FA4C-C08C-8B6E-F316EC0DF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3767" y="1471044"/>
                <a:ext cx="11045172" cy="4541707"/>
              </a:xfrm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409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980BDD-B7BF-0D61-10FB-1E5886B561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352" y="2036181"/>
                <a:ext cx="10364452" cy="431901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endParaRPr lang="en-US" sz="1700" u="sng" dirty="0"/>
              </a:p>
              <a:p>
                <a:pPr marL="0" indent="0">
                  <a:buNone/>
                </a:pPr>
                <a:endParaRPr lang="en-US" sz="1700" u="sng" dirty="0">
                  <a:ea typeface="+mn-lt"/>
                  <a:cs typeface="+mn-lt"/>
                </a:endParaRPr>
              </a:p>
              <a:p>
                <a:pPr marL="0" indent="0">
                  <a:buNone/>
                </a:pPr>
                <a:endParaRPr lang="en-US" sz="1700" u="sng" dirty="0">
                  <a:ea typeface="+mn-lt"/>
                  <a:cs typeface="+mn-lt"/>
                </a:endParaRPr>
              </a:p>
              <a:p>
                <a:pPr marL="0" indent="0">
                  <a:buNone/>
                </a:pPr>
                <a:endParaRPr lang="en-US" sz="1700" u="sng" dirty="0">
                  <a:ea typeface="+mn-lt"/>
                  <a:cs typeface="+mn-lt"/>
                </a:endParaRPr>
              </a:p>
              <a:p>
                <a:pPr>
                  <a:buClr>
                    <a:srgbClr val="000000"/>
                  </a:buClr>
                </a:pPr>
                <a:r>
                  <a:rPr lang="en-US" sz="1700" dirty="0">
                    <a:ea typeface="+mn-lt"/>
                    <a:cs typeface="+mn-lt"/>
                  </a:rPr>
                  <a:t>The significance level (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𝑎</m:t>
                    </m:r>
                  </m:oMath>
                </a14:m>
                <a:r>
                  <a:rPr lang="en-US" sz="1700" dirty="0">
                    <a:ea typeface="+mn-lt"/>
                    <a:cs typeface="+mn-lt"/>
                  </a:rPr>
                  <a:t>) is 0.0</a:t>
                </a:r>
                <a:r>
                  <a:rPr lang="en-GB" sz="1700" dirty="0">
                    <a:ea typeface="+mn-lt"/>
                    <a:cs typeface="+mn-lt"/>
                  </a:rPr>
                  <a:t>5</a:t>
                </a:r>
              </a:p>
              <a:p>
                <a:pPr>
                  <a:buClr>
                    <a:srgbClr val="000000"/>
                  </a:buClr>
                </a:pPr>
                <a:r>
                  <a:rPr lang="en-US" sz="1700" dirty="0"/>
                  <a:t>Using a t-distribution table, we find that the </a:t>
                </a:r>
                <a:r>
                  <a:rPr lang="en-GB" sz="1700" dirty="0"/>
                  <a:t>critical value </a:t>
                </a:r>
                <a:r>
                  <a:rPr lang="en-US" sz="1700" dirty="0"/>
                  <a:t> is </a:t>
                </a:r>
                <a:r>
                  <a:rPr lang="en-GB" sz="1700" dirty="0"/>
                  <a:t>1.96</a:t>
                </a:r>
                <a:r>
                  <a:rPr lang="en-US" sz="1700" dirty="0"/>
                  <a:t> by looking up the calculated t-statistic (1.16) with the degrees of freedom (199). </a:t>
                </a:r>
                <a:endParaRPr lang="en-GB" sz="1700" dirty="0"/>
              </a:p>
              <a:p>
                <a:pPr marL="0" indent="0">
                  <a:buNone/>
                </a:pPr>
                <a:r>
                  <a:rPr lang="en-GB" sz="1700" dirty="0"/>
                  <a:t>As our critical value is greater than our t statistic, we fail to reject the null hypothesis. (1.16&lt;1.96)</a:t>
                </a:r>
                <a:endParaRPr lang="en-US" sz="17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980BDD-B7BF-0D61-10FB-1E5886B56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352" y="2036181"/>
                <a:ext cx="10364452" cy="4319016"/>
              </a:xfrm>
              <a:blipFill>
                <a:blip r:embed="rId2"/>
                <a:stretch>
                  <a:fillRect l="-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3FCDFA3-045A-C9E7-052C-08C30EE7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3" y="144718"/>
            <a:ext cx="10364451" cy="1596177"/>
          </a:xfrm>
        </p:spPr>
        <p:txBody>
          <a:bodyPr/>
          <a:lstStyle/>
          <a:p>
            <a:r>
              <a:rPr lang="en-US" dirty="0"/>
              <a:t>Calculations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25B6D3-A057-D79E-1129-D1FDD7F4E6BA}"/>
                  </a:ext>
                </a:extLst>
              </p:cNvPr>
              <p:cNvSpPr txBox="1"/>
              <p:nvPr/>
            </p:nvSpPr>
            <p:spPr>
              <a:xfrm>
                <a:off x="3628248" y="1745942"/>
                <a:ext cx="4587160" cy="9003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dirty="0">
                                  <a:ea typeface="Calibri"/>
                                  <a:cs typeface="Calibri"/>
                                  <a:sym typeface="Symbol" panose="05050102010706020507" pitchFamily="18" charset="2"/>
                                </a:rPr>
                                <m:t>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f>
                            <m:f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√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den>
                      </m:f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147.04−140</m:t>
                          </m:r>
                        </m:num>
                        <m:den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85.85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√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200</m:t>
                              </m:r>
                            </m:den>
                          </m:f>
                        </m:den>
                      </m:f>
                      <m:r>
                        <a:rPr lang="en-GB" sz="2000" i="1">
                          <a:latin typeface="Cambria Math" panose="02040503050406030204" pitchFamily="18" charset="0"/>
                        </a:rPr>
                        <m:t>=1.16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25B6D3-A057-D79E-1129-D1FDD7F4E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248" y="1745942"/>
                <a:ext cx="4587160" cy="9003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606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B5AC9-F295-0D9D-FC93-B57322BBA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n-US" sz="3100" dirty="0"/>
              <a:t>Conclusions</a:t>
            </a:r>
            <a:endParaRPr lang="en-GB" sz="31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42" name="Content Placeholder 24">
            <a:extLst>
              <a:ext uri="{FF2B5EF4-FFF2-40B4-BE49-F238E27FC236}">
                <a16:creationId xmlns:a16="http://schemas.microsoft.com/office/drawing/2014/main" id="{EE1AD085-CAD6-FF6C-B543-F92E426CC1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577724"/>
              </p:ext>
            </p:extLst>
          </p:nvPr>
        </p:nvGraphicFramePr>
        <p:xfrm>
          <a:off x="4379976" y="310896"/>
          <a:ext cx="7525511" cy="6345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08648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3F012C5-2940-4F3E-BB5E-B8B2C9E82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B37C977-E7E3-44AC-AEC8-2E2764190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13876" cy="6858000"/>
          </a:xfrm>
          <a:prstGeom prst="rect">
            <a:avLst/>
          </a:prstGeom>
          <a:ln>
            <a:noFill/>
          </a:ln>
          <a:effectLst>
            <a:outerShdw blurRad="88900" dist="254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70DF37D-86A3-45DB-B1C1-580462D4B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037" b="73004"/>
          <a:stretch/>
        </p:blipFill>
        <p:spPr>
          <a:xfrm>
            <a:off x="1" y="-2"/>
            <a:ext cx="3321978" cy="21967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4FCAAD-1830-6B1C-A0A7-0B3DF839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896" y="960814"/>
            <a:ext cx="2732249" cy="49129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DAFF7A1C-36FD-9037-D9B4-5235A6099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9078" y="960814"/>
            <a:ext cx="6247722" cy="48303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all" normalizeH="0">
                <a:ln>
                  <a:noFill/>
                </a:ln>
              </a:rPr>
              <a:t>Excel Tutorials by EasyClick Academy. (2021, March 15). </a:t>
            </a:r>
            <a:r>
              <a:rPr kumimoji="0" lang="en-US" altLang="en-US" sz="1700" b="0" i="1" u="none" strike="noStrike" cap="all" normalizeH="0">
                <a:ln>
                  <a:noFill/>
                </a:ln>
              </a:rPr>
              <a:t>How to make a scatter plot in Excel</a:t>
            </a:r>
            <a:r>
              <a:rPr kumimoji="0" lang="en-US" altLang="en-US" sz="1700" b="0" i="0" u="none" strike="noStrike" cap="all" normalizeH="0">
                <a:ln>
                  <a:noFill/>
                </a:ln>
              </a:rPr>
              <a:t> [Video]. YouTube. </a:t>
            </a:r>
            <a:r>
              <a:rPr kumimoji="0" lang="en-US" altLang="en-US" sz="1700" b="0" i="0" u="none" strike="noStrike" cap="all" normalizeH="0">
                <a:ln>
                  <a:noFill/>
                </a:ln>
                <a:hlinkClick r:id="rId3"/>
              </a:rPr>
              <a:t>https://www.youtube.com/watch?v=MfEAEmdFOBo</a:t>
            </a:r>
            <a:endParaRPr kumimoji="0" lang="en-US" altLang="en-US" sz="1700" b="0" i="0" u="none" strike="noStrike" cap="all" normalizeH="0">
              <a:ln>
                <a:noFill/>
              </a:ln>
            </a:endParaRPr>
          </a:p>
          <a:p>
            <a:pPr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0" lang="en-US" altLang="en-US" sz="1700" b="0" i="0" u="none" strike="noStrike" cap="all" normalizeH="0">
                <a:ln>
                  <a:noFill/>
                </a:ln>
              </a:rPr>
              <a:t>Dr. Elliott Jardin. (2020, July 23). </a:t>
            </a:r>
            <a:r>
              <a:rPr kumimoji="0" lang="en-US" altLang="en-US" sz="1700" b="0" i="1" u="none" strike="noStrike" cap="all" normalizeH="0">
                <a:ln>
                  <a:noFill/>
                </a:ln>
              </a:rPr>
              <a:t>Calculate standard deviation in Excel (30 seconds)</a:t>
            </a:r>
            <a:r>
              <a:rPr kumimoji="0" lang="en-US" altLang="en-US" sz="1700" b="0" i="0" u="none" strike="noStrike" cap="all" normalizeH="0">
                <a:ln>
                  <a:noFill/>
                </a:ln>
              </a:rPr>
              <a:t> [Video]. YouTube. </a:t>
            </a:r>
            <a:r>
              <a:rPr kumimoji="0" lang="en-US" altLang="en-US" sz="1700" b="0" i="0" u="none" strike="noStrike" cap="all" normalizeH="0">
                <a:ln>
                  <a:noFill/>
                </a:ln>
                <a:hlinkClick r:id="rId4"/>
              </a:rPr>
              <a:t>https://www.youtube.com/watch?v=KcCA061tpyk</a:t>
            </a:r>
            <a:endParaRPr kumimoji="0" lang="en-US" altLang="en-US" sz="1700" b="0" i="0" u="none" strike="noStrike" cap="all" normalizeH="0">
              <a:ln>
                <a:noFill/>
              </a:ln>
            </a:endParaRPr>
          </a:p>
          <a:p>
            <a:pPr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0" lang="en-US" altLang="en-US" sz="1700" b="0" i="0" u="none" strike="noStrike" cap="all" normalizeH="0">
                <a:ln>
                  <a:noFill/>
                </a:ln>
              </a:rPr>
              <a:t>Aaron Freeman. (2020, October 25). </a:t>
            </a:r>
            <a:r>
              <a:rPr kumimoji="0" lang="en-US" altLang="en-US" sz="1700" b="0" i="1" u="none" strike="noStrike" cap="all" normalizeH="0">
                <a:ln>
                  <a:noFill/>
                </a:ln>
              </a:rPr>
              <a:t>Using Excel - creating a residual plot</a:t>
            </a:r>
            <a:r>
              <a:rPr kumimoji="0" lang="en-US" altLang="en-US" sz="1700" b="0" i="0" u="none" strike="noStrike" cap="all" normalizeH="0">
                <a:ln>
                  <a:noFill/>
                </a:ln>
              </a:rPr>
              <a:t> [Video]. YouTube. </a:t>
            </a:r>
            <a:r>
              <a:rPr kumimoji="0" lang="en-US" altLang="en-US" sz="1700" b="0" i="0" u="none" strike="noStrike" cap="all" normalizeH="0">
                <a:ln>
                  <a:noFill/>
                </a:ln>
                <a:hlinkClick r:id="rId5"/>
              </a:rPr>
              <a:t>https://www.youtube.com/watch?v=EHnkc6evkiQ</a:t>
            </a:r>
            <a:endParaRPr kumimoji="0" lang="en-US" altLang="en-US" sz="1700" b="0" i="0" u="none" strike="noStrike" cap="all" normalizeH="0">
              <a:ln>
                <a:noFill/>
              </a:ln>
            </a:endParaRPr>
          </a:p>
          <a:p>
            <a:pPr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0" lang="en-US" altLang="en-US" sz="1700" b="0" i="0" u="none" strike="noStrike" cap="all" normalizeH="0">
                <a:ln>
                  <a:noFill/>
                </a:ln>
              </a:rPr>
              <a:t>The Organic Chemistry Tutor. (2020, June 18). </a:t>
            </a:r>
            <a:r>
              <a:rPr kumimoji="0" lang="en-US" altLang="en-US" sz="1700" b="0" i="1" u="none" strike="noStrike" cap="all" normalizeH="0">
                <a:ln>
                  <a:noFill/>
                </a:ln>
              </a:rPr>
              <a:t>How to calculate the average in Excel</a:t>
            </a:r>
            <a:r>
              <a:rPr kumimoji="0" lang="en-US" altLang="en-US" sz="1700" b="0" i="0" u="none" strike="noStrike" cap="all" normalizeH="0">
                <a:ln>
                  <a:noFill/>
                </a:ln>
              </a:rPr>
              <a:t> [Video]. YouTube. </a:t>
            </a:r>
            <a:r>
              <a:rPr kumimoji="0" lang="en-US" altLang="en-US" sz="1700" b="0" i="0" u="none" strike="noStrike" cap="all" normalizeH="0">
                <a:ln>
                  <a:noFill/>
                </a:ln>
                <a:hlinkClick r:id="rId6"/>
              </a:rPr>
              <a:t>https://www.youtube.com/watch?v=1xD_pdAnU0c</a:t>
            </a:r>
            <a:endParaRPr kumimoji="0" lang="en-US" altLang="en-US" sz="1700" b="0" i="0" u="none" strike="noStrike" cap="all" normalizeH="0">
              <a:ln>
                <a:noFill/>
              </a:ln>
            </a:endParaRPr>
          </a:p>
          <a:p>
            <a:pPr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0" lang="en-US" altLang="en-US" sz="1700" b="0" i="0" u="none" strike="noStrike" cap="all" normalizeH="0">
                <a:ln>
                  <a:noFill/>
                </a:ln>
              </a:rPr>
              <a:t>How-To Guide. (2022, February 23). </a:t>
            </a:r>
            <a:r>
              <a:rPr kumimoji="0" lang="en-US" altLang="en-US" sz="1700" b="0" i="1" u="none" strike="noStrike" cap="all" normalizeH="0">
                <a:ln>
                  <a:noFill/>
                </a:ln>
              </a:rPr>
              <a:t>How to Calculate Square Root in Microsoft Excel :Tutorial</a:t>
            </a:r>
            <a:r>
              <a:rPr kumimoji="0" lang="en-US" altLang="en-US" sz="1700" b="0" i="0" u="none" strike="noStrike" cap="all" normalizeH="0">
                <a:ln>
                  <a:noFill/>
                </a:ln>
              </a:rPr>
              <a:t> [Video]. YouTube. </a:t>
            </a:r>
            <a:r>
              <a:rPr kumimoji="0" lang="en-US" altLang="en-US" sz="1700" b="0" i="0" u="none" strike="noStrike" cap="all" normalizeH="0">
                <a:ln>
                  <a:noFill/>
                </a:ln>
                <a:hlinkClick r:id="rId7"/>
              </a:rPr>
              <a:t>https://www.youtube.com/watch?v=DCgSynk_hSQ</a:t>
            </a:r>
            <a:endParaRPr kumimoji="0" lang="en-US" altLang="en-US" sz="1700" b="0" i="0" u="none" strike="noStrike" cap="all" normalizeH="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5396680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F1AD0E-E67E-49C0-9EC5-0273E83CFB0E}">
  <we:reference id="4b785c87-866c-4bad-85d8-5d1ae467ac9a" version="3.14.4.0" store="EXCatalog" storeType="EXCatalog"/>
  <we:alternateReferences>
    <we:reference id="WA104381909" version="3.14.4.0" store="en-GB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3C9355FE385D4BB3E7CA41C99F6812" ma:contentTypeVersion="9" ma:contentTypeDescription="Create a new document." ma:contentTypeScope="" ma:versionID="882adca51fa088d1fb307e7c49dbc455">
  <xsd:schema xmlns:xsd="http://www.w3.org/2001/XMLSchema" xmlns:xs="http://www.w3.org/2001/XMLSchema" xmlns:p="http://schemas.microsoft.com/office/2006/metadata/properties" xmlns:ns3="f977574b-c9ef-49c2-ba42-fb3492fac32a" targetNamespace="http://schemas.microsoft.com/office/2006/metadata/properties" ma:root="true" ma:fieldsID="3e1bc2a7eaba4ee7e1f1b685f08224a1" ns3:_="">
    <xsd:import namespace="f977574b-c9ef-49c2-ba42-fb3492fac32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77574b-c9ef-49c2-ba42-fb3492fac32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0A9574-811F-4213-8077-158CC4231F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307E28-15C1-41D8-97F1-C59492DA6AB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f977574b-c9ef-49c2-ba42-fb3492fac32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9E09D2-C1CF-4F4A-B232-91AD807D9FDE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</TotalTime>
  <Words>1320</Words>
  <Application>Microsoft Office PowerPoint</Application>
  <PresentationFormat>Widescreen</PresentationFormat>
  <Paragraphs>120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Arial,Sans-Serif</vt:lpstr>
      <vt:lpstr>Calibri</vt:lpstr>
      <vt:lpstr>Cambria Math</vt:lpstr>
      <vt:lpstr>TW Cen MT</vt:lpstr>
      <vt:lpstr>TW Cen MT</vt:lpstr>
      <vt:lpstr>Droplet</vt:lpstr>
      <vt:lpstr>Project 6 – Linear Regression for Marketing</vt:lpstr>
      <vt:lpstr>Table of contents</vt:lpstr>
      <vt:lpstr>Project tasks</vt:lpstr>
      <vt:lpstr>How we did it </vt:lpstr>
      <vt:lpstr>scatterplot and explanatory/response variables</vt:lpstr>
      <vt:lpstr>Regression Analysis</vt:lpstr>
      <vt:lpstr>Residual analysis</vt:lpstr>
      <vt:lpstr>95% and 99% Confidence intervals</vt:lpstr>
      <vt:lpstr>hypothesis test</vt:lpstr>
      <vt:lpstr>Calculations</vt:lpstr>
      <vt:lpstr>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[Type Project Title here]</dc:title>
  <dc:creator>Dymova, Maria</dc:creator>
  <cp:lastModifiedBy>UG-Talocka, Deividas</cp:lastModifiedBy>
  <cp:revision>61</cp:revision>
  <dcterms:created xsi:type="dcterms:W3CDTF">2022-08-26T16:14:41Z</dcterms:created>
  <dcterms:modified xsi:type="dcterms:W3CDTF">2024-12-20T12:10:08Z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6c24981-b6df-48f8-949b-0896357b9b03_Enabled">
    <vt:lpwstr>true</vt:lpwstr>
  </property>
  <property fmtid="{D5CDD505-2E9C-101B-9397-08002B2CF9AE}" pid="3" name="MSIP_Label_06c24981-b6df-48f8-949b-0896357b9b03_SetDate">
    <vt:lpwstr>2022-08-26T16:36:55Z</vt:lpwstr>
  </property>
  <property fmtid="{D5CDD505-2E9C-101B-9397-08002B2CF9AE}" pid="4" name="MSIP_Label_06c24981-b6df-48f8-949b-0896357b9b03_Method">
    <vt:lpwstr>Privileged</vt:lpwstr>
  </property>
  <property fmtid="{D5CDD505-2E9C-101B-9397-08002B2CF9AE}" pid="5" name="MSIP_Label_06c24981-b6df-48f8-949b-0896357b9b03_Name">
    <vt:lpwstr>Official</vt:lpwstr>
  </property>
  <property fmtid="{D5CDD505-2E9C-101B-9397-08002B2CF9AE}" pid="6" name="MSIP_Label_06c24981-b6df-48f8-949b-0896357b9b03_SiteId">
    <vt:lpwstr>dd615949-5bd0-4da0-ac52-28ef8d336373</vt:lpwstr>
  </property>
  <property fmtid="{D5CDD505-2E9C-101B-9397-08002B2CF9AE}" pid="7" name="MSIP_Label_06c24981-b6df-48f8-949b-0896357b9b03_ActionId">
    <vt:lpwstr>cc01a5b5-a520-4a3e-89fc-3b10eee52002</vt:lpwstr>
  </property>
  <property fmtid="{D5CDD505-2E9C-101B-9397-08002B2CF9AE}" pid="8" name="MSIP_Label_06c24981-b6df-48f8-949b-0896357b9b03_ContentBits">
    <vt:lpwstr>0</vt:lpwstr>
  </property>
  <property fmtid="{D5CDD505-2E9C-101B-9397-08002B2CF9AE}" pid="9" name="ContentTypeId">
    <vt:lpwstr>0x010100C43C9355FE385D4BB3E7CA41C99F6812</vt:lpwstr>
  </property>
</Properties>
</file>